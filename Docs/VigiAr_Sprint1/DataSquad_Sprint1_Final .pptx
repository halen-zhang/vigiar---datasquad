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72" r:id="rId2"/>
    <p:sldId id="270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1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2137"/>
    <a:srgbClr val="0B1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1A21F2-AFE1-ED53-E05C-70F9D7370007}" v="24" dt="2026-04-27T01:08:53.3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6" autoAdjust="0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292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155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0" descr="Captura_de_tela_2026-04-26_2018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747" y="0"/>
            <a:ext cx="9189493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292608" y="2011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 ·  IDEAÇÃO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56032" y="594360"/>
            <a:ext cx="8686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SQUAD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292608" y="182880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 err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VigiAr</a:t>
            </a:r>
            <a:r>
              <a:rPr lang="en-US" sz="18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Gestão Inteligente de Crises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92608" y="2404872"/>
            <a:ext cx="512064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292608" y="256032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</a:t>
            </a: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2608" y="2971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Halen Zhang – RM 569733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2608" y="32461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Igor Soares Silva – RM 569254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2608" y="3520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João Marcos Borba Rodrigues Gonçalves – RM 571021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2608" y="3794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João Ricardo Travaglin Abi Saber – RM 573129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2608" y="4069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Vitor Franco Benvenuto  –  RM 573286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2608" y="4754880"/>
            <a:ext cx="5943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Turma: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1TSCPF - 2026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9728" y="4754880"/>
            <a:ext cx="9034272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Squad  |  Sprint 1  |  FIAP 2025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65760" y="16459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EXECUTIVA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65760" y="548640"/>
            <a:ext cx="84124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Inteligente de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Gestão de </a:t>
            </a:r>
            <a:r>
              <a:rPr lang="en-US" sz="3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Crises Respiratórias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365760" y="4622292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B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Quebrando o ciclo de superlotação hospitalar com inteligência artificial e gestão preditiva</a:t>
            </a:r>
            <a:endParaRPr lang="en-US" sz="1500" dirty="0"/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BFD540A5-2987-7FC9-A42E-C64537F1C2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440" t="9874" r="24772" b="15692"/>
          <a:stretch>
            <a:fillRect/>
          </a:stretch>
        </p:blipFill>
        <p:spPr>
          <a:xfrm>
            <a:off x="3250158" y="2240280"/>
            <a:ext cx="2643683" cy="215581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E2B4A"/>
          </a:solidFill>
          <a:ln w="12700">
            <a:solidFill>
              <a:srgbClr val="0E2B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Colapso de 2024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tripla epidemia que paralisou São Paulo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416052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epidemias </a:t>
            </a:r>
            <a:r>
              <a:rPr lang="en-US" sz="1600" b="1" dirty="0" err="1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simultâneas</a:t>
            </a:r>
            <a:r>
              <a:rPr lang="en-US" sz="16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VSR  ·  Influenza A  ·  Dengue</a:t>
            </a:r>
            <a:endParaRPr lang="en-US" sz="1300" dirty="0"/>
          </a:p>
          <a:p>
            <a:pPr marL="0" indent="0">
              <a:buNone/>
            </a:pPr>
            <a:r>
              <a:rPr lang="en-US" sz="5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abril e setembro de 2024, a rede hospitalar paulistana foi sobrecarregada ao mesmo tempo pelas três epidemias. Pacientes em estado grave aguardavam triagem em corredores.</a:t>
            </a:r>
            <a:endParaRPr lang="en-US" sz="1300" dirty="0"/>
          </a:p>
          <a:p>
            <a:pPr marL="0" indent="0">
              <a:buNone/>
            </a:pPr>
            <a:r>
              <a:rPr lang="en-US" sz="5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dado mais revelador: nenhum desses surtos foi surpresa. A sazonalidade respiratória em SP é conhecida há décadas. O que faltou foi um sistema capaz de agir antes do impacto.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804672"/>
            <a:ext cx="4160520" cy="914400"/>
          </a:xfrm>
          <a:prstGeom prst="rect">
            <a:avLst/>
          </a:prstGeom>
          <a:solidFill>
            <a:srgbClr val="FEE2E2"/>
          </a:solidFill>
          <a:ln w="1270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105156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349240" y="86868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4–6h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349240" y="129844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espera nas UPAs da capital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63440" y="1828800"/>
            <a:ext cx="4160520" cy="914400"/>
          </a:xfrm>
          <a:prstGeom prst="rect">
            <a:avLst/>
          </a:prstGeom>
          <a:solidFill>
            <a:srgbClr val="FEF3C7"/>
          </a:solidFill>
          <a:ln w="1270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2075688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9240" y="189280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1.073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5349240" y="2322576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SRAG por VSR em jan–mar/2024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663440" y="2852928"/>
            <a:ext cx="4160520" cy="914400"/>
          </a:xfrm>
          <a:prstGeom prst="rect">
            <a:avLst/>
          </a:prstGeom>
          <a:solidFill>
            <a:srgbClr val="EBF5FF"/>
          </a:solidFill>
          <a:ln w="1270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3099816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49240" y="291693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2400" dirty="0"/>
          </a:p>
        </p:txBody>
      </p:sp>
      <p:sp>
        <p:nvSpPr>
          <p:cNvPr id="17" name="Text 12"/>
          <p:cNvSpPr/>
          <p:nvPr/>
        </p:nvSpPr>
        <p:spPr>
          <a:xfrm>
            <a:off x="5349240" y="3346704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internações privadas foram respiratórias em março/2024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663440" y="3877056"/>
            <a:ext cx="4160520" cy="914400"/>
          </a:xfrm>
          <a:prstGeom prst="rect">
            <a:avLst/>
          </a:prstGeom>
          <a:solidFill>
            <a:srgbClr val="FEE2E2"/>
          </a:solidFill>
          <a:ln w="1270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4123944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349240" y="394106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µg/m³</a:t>
            </a:r>
            <a:endParaRPr lang="en-US" sz="2400" dirty="0"/>
          </a:p>
        </p:txBody>
      </p:sp>
      <p:sp>
        <p:nvSpPr>
          <p:cNvPr id="21" name="Text 15"/>
          <p:cNvSpPr/>
          <p:nvPr/>
        </p:nvSpPr>
        <p:spPr>
          <a:xfrm>
            <a:off x="5349240" y="437083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PM2.5 em set/2024 — 14× o limite da OMS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E2B4A"/>
          </a:solidFill>
          <a:ln w="12700">
            <a:solidFill>
              <a:srgbClr val="0E2B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Raiz do Problema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reativa: apagando incêndios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4206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54864" cy="8961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04241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914400"/>
            <a:ext cx="34564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Leitos contratados emergencialmente após a superlotação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0040" y="1810512"/>
            <a:ext cx="4206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320040" y="1810512"/>
            <a:ext cx="54864" cy="8961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204825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0120" y="1920240"/>
            <a:ext cx="34564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Insumos comprados a preços de emergência, sem planejamento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20040" y="2816352"/>
            <a:ext cx="4206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0"/>
          <p:cNvSpPr/>
          <p:nvPr/>
        </p:nvSpPr>
        <p:spPr>
          <a:xfrm>
            <a:off x="320040" y="2816352"/>
            <a:ext cx="54864" cy="8961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3054096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60120" y="2926080"/>
            <a:ext cx="34564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Profissionais mobilizados quando o quadro já é crítico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320040" y="3822192"/>
            <a:ext cx="4206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3"/>
          <p:cNvSpPr/>
          <p:nvPr/>
        </p:nvSpPr>
        <p:spPr>
          <a:xfrm>
            <a:off x="320040" y="3822192"/>
            <a:ext cx="54864" cy="8961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" y="4059936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60120" y="3931920"/>
            <a:ext cx="34564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Mudanças climáticas criam surtos fora de época, tornando o calendário insuficiente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4709160" y="804672"/>
            <a:ext cx="4114800" cy="4133088"/>
          </a:xfrm>
          <a:prstGeom prst="rect">
            <a:avLst/>
          </a:prstGeom>
          <a:solidFill>
            <a:srgbClr val="0E2B4A"/>
          </a:solidFill>
          <a:ln w="12700">
            <a:solidFill>
              <a:srgbClr val="0E2B4A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Text 16"/>
          <p:cNvSpPr/>
          <p:nvPr/>
        </p:nvSpPr>
        <p:spPr>
          <a:xfrm>
            <a:off x="4892040" y="9144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ciclo reativo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4937760" y="1389888"/>
            <a:ext cx="274320" cy="2743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18"/>
          <p:cNvSpPr/>
          <p:nvPr/>
        </p:nvSpPr>
        <p:spPr>
          <a:xfrm>
            <a:off x="4937760" y="1389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5074920" y="1664208"/>
            <a:ext cx="0" cy="201168"/>
          </a:xfrm>
          <a:prstGeom prst="line">
            <a:avLst/>
          </a:prstGeom>
          <a:noFill/>
          <a:ln w="12700">
            <a:solidFill>
              <a:srgbClr val="3A6A8A"/>
            </a:solidFill>
            <a:prstDash val="sysDash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0"/>
          <p:cNvSpPr/>
          <p:nvPr/>
        </p:nvSpPr>
        <p:spPr>
          <a:xfrm>
            <a:off x="5321808" y="1408176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Surto começa a se formar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4937760" y="1865376"/>
            <a:ext cx="274320" cy="2743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2"/>
          <p:cNvSpPr/>
          <p:nvPr/>
        </p:nvSpPr>
        <p:spPr>
          <a:xfrm>
            <a:off x="4937760" y="1865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5074920" y="2139696"/>
            <a:ext cx="0" cy="201168"/>
          </a:xfrm>
          <a:prstGeom prst="line">
            <a:avLst/>
          </a:prstGeom>
          <a:noFill/>
          <a:ln w="12700">
            <a:solidFill>
              <a:srgbClr val="3A6A8A"/>
            </a:solidFill>
            <a:prstDash val="sysDash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4"/>
          <p:cNvSpPr/>
          <p:nvPr/>
        </p:nvSpPr>
        <p:spPr>
          <a:xfrm>
            <a:off x="5321808" y="1883664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não detecta sinais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4937760" y="2340864"/>
            <a:ext cx="274320" cy="2743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26"/>
          <p:cNvSpPr/>
          <p:nvPr/>
        </p:nvSpPr>
        <p:spPr>
          <a:xfrm>
            <a:off x="4937760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5074920" y="2615184"/>
            <a:ext cx="0" cy="201168"/>
          </a:xfrm>
          <a:prstGeom prst="line">
            <a:avLst/>
          </a:prstGeom>
          <a:noFill/>
          <a:ln w="12700">
            <a:solidFill>
              <a:srgbClr val="3A6A8A"/>
            </a:solidFill>
            <a:prstDash val="sysDash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28"/>
          <p:cNvSpPr/>
          <p:nvPr/>
        </p:nvSpPr>
        <p:spPr>
          <a:xfrm>
            <a:off x="5321808" y="235915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Hospitais começam a lotar</a:t>
            </a:r>
            <a:endParaRPr lang="en-US" sz="1200" dirty="0"/>
          </a:p>
        </p:txBody>
      </p:sp>
      <p:sp>
        <p:nvSpPr>
          <p:cNvPr id="35" name="Shape 29"/>
          <p:cNvSpPr/>
          <p:nvPr/>
        </p:nvSpPr>
        <p:spPr>
          <a:xfrm>
            <a:off x="4937760" y="2816352"/>
            <a:ext cx="274320" cy="2743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0"/>
          <p:cNvSpPr/>
          <p:nvPr/>
        </p:nvSpPr>
        <p:spPr>
          <a:xfrm>
            <a:off x="4937760" y="2816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7" name="Shape 31"/>
          <p:cNvSpPr/>
          <p:nvPr/>
        </p:nvSpPr>
        <p:spPr>
          <a:xfrm>
            <a:off x="5074920" y="3090672"/>
            <a:ext cx="0" cy="201168"/>
          </a:xfrm>
          <a:prstGeom prst="line">
            <a:avLst/>
          </a:prstGeom>
          <a:noFill/>
          <a:ln w="12700">
            <a:solidFill>
              <a:srgbClr val="3A6A8A"/>
            </a:solidFill>
            <a:prstDash val="sysDash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2"/>
          <p:cNvSpPr/>
          <p:nvPr/>
        </p:nvSpPr>
        <p:spPr>
          <a:xfrm>
            <a:off x="5321808" y="2834640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Gestores reagem em modo de crise</a:t>
            </a:r>
            <a:endParaRPr lang="en-US" sz="1200" dirty="0"/>
          </a:p>
        </p:txBody>
      </p:sp>
      <p:sp>
        <p:nvSpPr>
          <p:cNvPr id="39" name="Shape 33"/>
          <p:cNvSpPr/>
          <p:nvPr/>
        </p:nvSpPr>
        <p:spPr>
          <a:xfrm>
            <a:off x="4937760" y="3291840"/>
            <a:ext cx="274320" cy="2743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34"/>
          <p:cNvSpPr/>
          <p:nvPr/>
        </p:nvSpPr>
        <p:spPr>
          <a:xfrm>
            <a:off x="4937760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1" name="Shape 35"/>
          <p:cNvSpPr/>
          <p:nvPr/>
        </p:nvSpPr>
        <p:spPr>
          <a:xfrm>
            <a:off x="5074920" y="3566160"/>
            <a:ext cx="0" cy="201168"/>
          </a:xfrm>
          <a:prstGeom prst="line">
            <a:avLst/>
          </a:prstGeom>
          <a:noFill/>
          <a:ln w="12700">
            <a:solidFill>
              <a:srgbClr val="3A6A8A"/>
            </a:solidFill>
            <a:prstDash val="sysDash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36"/>
          <p:cNvSpPr/>
          <p:nvPr/>
        </p:nvSpPr>
        <p:spPr>
          <a:xfrm>
            <a:off x="5321808" y="3310128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 emergenciais e retrabalho</a:t>
            </a:r>
            <a:endParaRPr lang="en-US" sz="1200" dirty="0"/>
          </a:p>
        </p:txBody>
      </p:sp>
      <p:sp>
        <p:nvSpPr>
          <p:cNvPr id="43" name="Shape 37"/>
          <p:cNvSpPr/>
          <p:nvPr/>
        </p:nvSpPr>
        <p:spPr>
          <a:xfrm>
            <a:off x="4937760" y="3767328"/>
            <a:ext cx="274320" cy="2743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Text 38"/>
          <p:cNvSpPr/>
          <p:nvPr/>
        </p:nvSpPr>
        <p:spPr>
          <a:xfrm>
            <a:off x="4937760" y="3767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5" name="Text 39"/>
          <p:cNvSpPr/>
          <p:nvPr/>
        </p:nvSpPr>
        <p:spPr>
          <a:xfrm>
            <a:off x="5321808" y="3785616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Colapso instalado — tarde demais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Nossa Solução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D4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Antecipar, redistribuir, agir antes do colapso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822960"/>
            <a:ext cx="7863840" cy="1234440"/>
          </a:xfrm>
          <a:prstGeom prst="rect">
            <a:avLst/>
          </a:prstGeom>
          <a:solidFill>
            <a:srgbClr val="0E2B4A"/>
          </a:solidFill>
          <a:ln w="25400">
            <a:solidFill>
              <a:srgbClr val="0891B2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822960"/>
            <a:ext cx="7863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Antecipar surtos com até </a:t>
            </a:r>
            <a:r>
              <a:rPr lang="en-US" sz="2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semanas de antecedência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redistribuir leitos 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automaticamente</a:t>
            </a: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antes que o colapso se instale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274320" y="2176272"/>
            <a:ext cx="2788920" cy="2724912"/>
          </a:xfrm>
          <a:prstGeom prst="rect">
            <a:avLst/>
          </a:prstGeom>
          <a:solidFill>
            <a:srgbClr val="F2F6FA"/>
          </a:solidFill>
          <a:ln w="1270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274320" y="2176272"/>
            <a:ext cx="278892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752" y="2377440"/>
            <a:ext cx="438912" cy="4389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65760" y="29260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Históricos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11480" y="3410712"/>
            <a:ext cx="25146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anos de dados públicos (OpenDataSUS) + variáveis climáticas (CETESB/INMET) integradas em tempo real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00400" y="2176272"/>
            <a:ext cx="2788920" cy="2724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3200400" y="2176272"/>
            <a:ext cx="278892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832" y="2377440"/>
            <a:ext cx="438912" cy="4389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91840" y="29260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Preditiva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337560" y="3410712"/>
            <a:ext cx="25146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Séries temporais (Prophet) + redes neurais (LSTM) para prever internações com 2 a 4 semanas de antecedência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126480" y="2176272"/>
            <a:ext cx="2788920" cy="2724912"/>
          </a:xfrm>
          <a:prstGeom prst="rect">
            <a:avLst/>
          </a:prstGeom>
          <a:solidFill>
            <a:srgbClr val="FEF3C7"/>
          </a:solidFill>
          <a:ln w="1270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4"/>
          <p:cNvSpPr/>
          <p:nvPr/>
        </p:nvSpPr>
        <p:spPr>
          <a:xfrm>
            <a:off x="6126480" y="2176272"/>
            <a:ext cx="278892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6912" y="2377440"/>
            <a:ext cx="438912" cy="4389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17920" y="29260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Coordenada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263640" y="3410712"/>
            <a:ext cx="25146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Redistribuição automática de leitos, profissionais e insumos com algoritmo de programação linear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E2B4A"/>
          </a:solidFill>
          <a:ln w="12700">
            <a:solidFill>
              <a:srgbClr val="0E2B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Modelo Aprende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públicos + variáveis climáticas e de poluição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103120" cy="1444752"/>
          </a:xfrm>
          <a:prstGeom prst="rect">
            <a:avLst/>
          </a:prstGeom>
          <a:solidFill>
            <a:srgbClr val="0E2B4A"/>
          </a:solidFill>
          <a:ln w="12700">
            <a:solidFill>
              <a:srgbClr val="0E2B4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20040" y="16916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dados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(2009–2025)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42032" y="804672"/>
            <a:ext cx="1481328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2542032" y="804672"/>
            <a:ext cx="54864" cy="9509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2651760" y="868680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SIVEP-Gripe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51760" y="1243584"/>
            <a:ext cx="1335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e óbitos por SRAG desde 2009, atualização semanal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114800" y="804672"/>
            <a:ext cx="1481328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4114800" y="804672"/>
            <a:ext cx="54864" cy="9509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224528" y="868680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SINAN / DataSUS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24528" y="1243584"/>
            <a:ext cx="1335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Notificações compulsórias de doenças respiratórias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687568" y="804672"/>
            <a:ext cx="1481328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5687568" y="804672"/>
            <a:ext cx="54864" cy="9509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5797296" y="868680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SIH-SUS / DataSUS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797296" y="1243584"/>
            <a:ext cx="1335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Internações hospitalares por CID-10 e custo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260336" y="804672"/>
            <a:ext cx="1481328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7260336" y="804672"/>
            <a:ext cx="54864" cy="9509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7370064" y="868680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SI-PNI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70064" y="1243584"/>
            <a:ext cx="1335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vacinal por município e faixa etária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328416" y="1883664"/>
            <a:ext cx="1481328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3328416" y="1883664"/>
            <a:ext cx="54864" cy="9509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3438144" y="1947672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CETESB Qualar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38144" y="2322576"/>
            <a:ext cx="1335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e qualidade do ar em tempo real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901184" y="1883664"/>
            <a:ext cx="1481328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4901184" y="1883664"/>
            <a:ext cx="54864" cy="9509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5010912" y="1947672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BDMEP / INMET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10912" y="2322576"/>
            <a:ext cx="1335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Temperatura, umidade, precipitação histórica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473952" y="1883664"/>
            <a:ext cx="1481328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6473952" y="1883664"/>
            <a:ext cx="54864" cy="9509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6583680" y="1947672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InfoGripe / Fiocruz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583680" y="2322576"/>
            <a:ext cx="1335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Tendências semanais de vírus por estado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0040" y="2944368"/>
            <a:ext cx="85039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50292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que alimentam o modelo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02920" y="345643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mín./máx. e umidade relativa (INMET)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2920" y="377647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qualidade do ar — PM2.5 (CETESB)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02920" y="409651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vacinal contra influenza por município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663440" y="3456432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epidemiológica + indicador de retorno escolar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663440" y="3776472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positividade respiratória (3 semanas anteriores)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663440" y="4096512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Circulação de VSR, Influenza A e COVID-19 (InfoGripe)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Grande Diferencial: Inteligência Artificial (NLP)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822960"/>
            <a:ext cx="621792" cy="6217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48056" y="1481328"/>
            <a:ext cx="8229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 7 dias</a:t>
            </a:r>
            <a:endParaRPr lang="en-US" sz="6600" dirty="0"/>
          </a:p>
        </p:txBody>
      </p:sp>
      <p:sp>
        <p:nvSpPr>
          <p:cNvPr id="6" name="Text 3"/>
          <p:cNvSpPr/>
          <p:nvPr/>
        </p:nvSpPr>
        <p:spPr>
          <a:xfrm>
            <a:off x="1371600" y="248716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7B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antecedência operacional antes do registro formal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20040" y="3017520"/>
            <a:ext cx="4069080" cy="1901952"/>
          </a:xfrm>
          <a:prstGeom prst="rect">
            <a:avLst/>
          </a:prstGeom>
          <a:solidFill>
            <a:srgbClr val="112236"/>
          </a:solidFill>
          <a:ln w="19050">
            <a:solidFill>
              <a:srgbClr val="0891B2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502920" y="310896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3493008"/>
            <a:ext cx="3886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linguagem (GPT-4 com ajuste clínico / BioBART-PT) leem o texto livre dos prontuários médicos via HL7 FHIR ou APIs (MV, TASY) e classificam automaticamente: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 ·  Moderado  ·  Grave  ·  SRAG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754880" y="3017520"/>
            <a:ext cx="4069080" cy="1901952"/>
          </a:xfrm>
          <a:prstGeom prst="rect">
            <a:avLst/>
          </a:prstGeom>
          <a:solidFill>
            <a:srgbClr val="112236"/>
          </a:solidFill>
          <a:ln w="19050">
            <a:solidFill>
              <a:srgbClr val="0891B2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4937760" y="310896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é decisivo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937760" y="3388375"/>
            <a:ext cx="3886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surtos em formação antes do registro epidemiológico. Uma janela de 3 a 7 dias na gestão de crises de saúde pública pode ser a diferença entre uma resposta coordenada e um colapso hospitalar.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E2B4A"/>
          </a:solidFill>
          <a:ln w="12700">
            <a:solidFill>
              <a:srgbClr val="0E2B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Gestão e Redistribuição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coordenada em tempo real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27889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278892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608" y="10058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1572768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Ocupação Regional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38912" y="2194560"/>
            <a:ext cx="24688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Visualização em tempo real de leitos por subprefeitura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Alertas automáticos de superlotação iminente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Sugestão de transferência entre unidades disponíveis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804672"/>
            <a:ext cx="27889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3200400" y="804672"/>
            <a:ext cx="278892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688" y="100584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37560" y="1572768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Redistribuição Automática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364992" y="2194560"/>
            <a:ext cx="24688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Algoritmo de programação linear (PuLP/Gurobi)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Profissionais, medicamentos e equipamentos alocados por previsão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Elimina reação tardia e compras emergenciais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126480" y="804672"/>
            <a:ext cx="27889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2"/>
          <p:cNvSpPr/>
          <p:nvPr/>
        </p:nvSpPr>
        <p:spPr>
          <a:xfrm>
            <a:off x="6126480" y="804672"/>
            <a:ext cx="27889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100000"/>
                    </a14:imgEffect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48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26753" y="1045759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63640" y="1572768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e Alertas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291072" y="2194560"/>
            <a:ext cx="24688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Conectado ao CROSS/SP — regulação de leitos da capital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Alertas em tempo real por e-mail e SMS para gestores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Dashboard Metabase ou Power BI com atualização contínua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E2B4A"/>
          </a:solidFill>
          <a:ln w="12700">
            <a:solidFill>
              <a:srgbClr val="0E2B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Ativação de Hospitais Sentinela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automáticos de disparo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4023360" cy="2560320"/>
          </a:xfrm>
          <a:prstGeom prst="rect">
            <a:avLst/>
          </a:prstGeom>
          <a:solidFill>
            <a:srgbClr val="FEE2E2"/>
          </a:solidFill>
          <a:ln w="25400">
            <a:solidFill>
              <a:srgbClr val="C0392B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601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00584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GATILHO 1 — OCUPAÇÃO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14173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85%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548640" y="230428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ocupação em 3 ou mais hospitais de uma mesma regional de São Paulo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800600" y="804672"/>
            <a:ext cx="4023360" cy="2560320"/>
          </a:xfrm>
          <a:prstGeom prst="rect">
            <a:avLst/>
          </a:prstGeom>
          <a:solidFill>
            <a:srgbClr val="EBF5FF"/>
          </a:solidFill>
          <a:ln w="25400">
            <a:solidFill>
              <a:srgbClr val="0891B2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9601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100584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GATILHO 2 — CRESCIMENTO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983480" y="14173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20%</a:t>
            </a:r>
            <a:endParaRPr lang="en-US" sz="5400" dirty="0"/>
          </a:p>
        </p:txBody>
      </p:sp>
      <p:sp>
        <p:nvSpPr>
          <p:cNvPr id="14" name="Text 10"/>
          <p:cNvSpPr/>
          <p:nvPr/>
        </p:nvSpPr>
        <p:spPr>
          <a:xfrm>
            <a:off x="4983480" y="230428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crescimento de internações em 7 dias consecutivos na área de monitoramento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365760" y="3493008"/>
            <a:ext cx="8412480" cy="1481328"/>
          </a:xfrm>
          <a:prstGeom prst="rect">
            <a:avLst/>
          </a:prstGeom>
          <a:solidFill>
            <a:srgbClr val="0E2B4A"/>
          </a:solidFill>
          <a:ln w="12700">
            <a:solidFill>
              <a:srgbClr val="0E2B4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2"/>
          <p:cNvSpPr/>
          <p:nvPr/>
        </p:nvSpPr>
        <p:spPr>
          <a:xfrm>
            <a:off x="594360" y="358444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 após o disparo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94360" y="397764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automática de abertura de unidades de retaguarda (hospitais sentinela)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completo da logística de ativação: leitos, equipe médica, insumos necessários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enviado ao gestor regional para aprovação imediata e coordenação de resposta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E2B4A"/>
          </a:solidFill>
          <a:ln w="12700">
            <a:solidFill>
              <a:srgbClr val="0E2B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Tecnologia, Nuvem e LGPD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 sólida · Privacidade por design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8503920" cy="594360"/>
          </a:xfrm>
          <a:prstGeom prst="rect">
            <a:avLst/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77824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896112"/>
            <a:ext cx="7726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Privacidade por design: todos os dados de pacientes são anonimizados na captura. Conformidade integral com a LGPD.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0040" y="1508760"/>
            <a:ext cx="27157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320040" y="1508760"/>
            <a:ext cx="2715768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45920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164592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Prontuários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29768" y="2075688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(fine-tuning clínico PT-BR) ou BioBART-PT. Integração HL7 FHIR, APIs MV/TASY. spaCy-pt para pré-processamento.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127248" y="1508760"/>
            <a:ext cx="27157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0"/>
          <p:cNvSpPr/>
          <p:nvPr/>
        </p:nvSpPr>
        <p:spPr>
          <a:xfrm>
            <a:off x="3127248" y="1508760"/>
            <a:ext cx="2715768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4408" y="1645920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721608" y="164592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de Demanda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3236976" y="2075688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Prophet (sazonalidade estrutural) + LSTM TensorFlow/PyTorch. Retreino automático a cada semana epidemiológica.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5934456" y="1508760"/>
            <a:ext cx="27157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4"/>
          <p:cNvSpPr/>
          <p:nvPr/>
        </p:nvSpPr>
        <p:spPr>
          <a:xfrm>
            <a:off x="5934456" y="1508760"/>
            <a:ext cx="2715768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1616" y="1645920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528816" y="164592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 de Recursos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6044184" y="2075688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linear (PuLP/Gurobi) para alocação ótima de leitos, profissionais e insumos entre unidades.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1664208" y="3035808"/>
            <a:ext cx="27157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Shape 18"/>
          <p:cNvSpPr/>
          <p:nvPr/>
        </p:nvSpPr>
        <p:spPr>
          <a:xfrm>
            <a:off x="1664208" y="3035808"/>
            <a:ext cx="2715768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1368" y="3172968"/>
            <a:ext cx="347472" cy="34747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2258568" y="317296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 Alertas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1773936" y="3602736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Metabase ou Power BI em tempo real. Alertas automáticos por e-mail e SMS. Integrado ao CROSS/SP.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4517136" y="3035808"/>
            <a:ext cx="27157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9" name="Shape 22"/>
          <p:cNvSpPr/>
          <p:nvPr/>
        </p:nvSpPr>
        <p:spPr>
          <a:xfrm>
            <a:off x="4517136" y="3035808"/>
            <a:ext cx="2715768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296" y="3172968"/>
            <a:ext cx="347472" cy="34747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111496" y="317296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 Cloud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4626864" y="3602736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ou Azure Gov com opção on-premise. Arquitetura substituível componente a componente, sem dependência de fornecedor.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do Problema Atual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B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do caos — fontes verificáveis no SIH-SUS/DATASUS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98515" y="1116614"/>
            <a:ext cx="4069080" cy="2331720"/>
          </a:xfrm>
          <a:prstGeom prst="rect">
            <a:avLst/>
          </a:prstGeom>
          <a:solidFill>
            <a:srgbClr val="200A0A"/>
          </a:solidFill>
          <a:ln w="25400">
            <a:solidFill>
              <a:srgbClr val="C0392B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35675" y="1207371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 mi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1819133" y="2164262"/>
            <a:ext cx="12278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dia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455164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médio diário do SUS com doenças respiratórias no Brasil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1" y="1122460"/>
            <a:ext cx="4069079" cy="2331720"/>
          </a:xfrm>
          <a:prstGeom prst="rect">
            <a:avLst/>
          </a:prstGeom>
          <a:solidFill>
            <a:srgbClr val="200A0A"/>
          </a:solidFill>
          <a:ln w="2540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813564" y="1207008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R$ 381 mi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6027873" y="2163079"/>
            <a:ext cx="13661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jan–fev 2025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92040" y="2556499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total SUS com crises respiratórias · 81.249 internações · 10.106 óbitos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98515" y="3606102"/>
            <a:ext cx="8379725" cy="1371600"/>
          </a:xfrm>
          <a:prstGeom prst="rect">
            <a:avLst/>
          </a:prstGeom>
          <a:solidFill>
            <a:srgbClr val="112236"/>
          </a:solidFill>
          <a:ln w="12700">
            <a:solidFill>
              <a:srgbClr val="3A20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85800" y="363931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número é calculado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40233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81.249 internações</a:t>
            </a:r>
            <a:r>
              <a:rPr lang="en-US" sz="1100" dirty="0">
                <a:solidFill>
                  <a:srgbClr val="A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× R$ 4.697,36 (custo mediano SUS/internação) = </a:t>
            </a: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R$ 381,6 milhões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primária: Planisa/SIH-SUS (DATASUS) — CIDs J18 (pneumonia) + J10/J11 (influenza). Verificação direta: tabnet.datasus.gov.br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E2B4A"/>
          </a:solidFill>
          <a:ln w="12700">
            <a:solidFill>
              <a:srgbClr val="0E2B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 Estimada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Paulo capital · Cálculo conservador com fontes científicas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8503920" cy="1261872"/>
          </a:xfrm>
          <a:prstGeom prst="rect">
            <a:avLst/>
          </a:prstGeom>
          <a:solidFill>
            <a:srgbClr val="D1FAE5"/>
          </a:solidFill>
          <a:ln w="25400">
            <a:solidFill>
              <a:srgbClr val="059669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24128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84124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R$ 73 a 148 milhões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1188720" y="148132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ano — economia estimada em São Paulo capital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355080" y="86868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R$ 183 mi/ano (12% das internações respiratórias do Brasil)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arXiv 2311.07283 (NHS/UK) · medRxiv 2022.11.03.22281898 (Espanha)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20040" y="2194560"/>
            <a:ext cx="8503920" cy="384048"/>
          </a:xfrm>
          <a:prstGeom prst="rect">
            <a:avLst/>
          </a:prstGeom>
          <a:solidFill>
            <a:srgbClr val="0E2B4A"/>
          </a:solidFill>
          <a:ln w="12700">
            <a:solidFill>
              <a:srgbClr val="0E2B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502920" y="221284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de Economia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623560" y="22128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858000" y="22128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Anual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20040" y="2578608"/>
            <a:ext cx="8503920" cy="438912"/>
          </a:xfrm>
          <a:prstGeom prst="rect">
            <a:avLst/>
          </a:prstGeom>
          <a:solidFill>
            <a:srgbClr val="D1FAE5"/>
          </a:solidFill>
          <a:ln w="635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502920" y="263347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Internações evitáveis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623560" y="263347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858000" y="26334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R$ 45–90 mi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20040" y="3035808"/>
            <a:ext cx="8503920" cy="438912"/>
          </a:xfrm>
          <a:prstGeom prst="rect">
            <a:avLst/>
          </a:prstGeom>
          <a:solidFill>
            <a:srgbClr val="F2F6FA"/>
          </a:solidFill>
          <a:ln w="635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502920" y="309067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 de UTI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623560" y="309067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~15%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858000" y="30906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R$ 15–30 mi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20040" y="3493008"/>
            <a:ext cx="8503920" cy="438912"/>
          </a:xfrm>
          <a:prstGeom prst="rect">
            <a:avLst/>
          </a:prstGeom>
          <a:solidFill>
            <a:srgbClr val="D1FAE5"/>
          </a:solidFill>
          <a:ln w="635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502920" y="354787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Readmissões evitáveis (30 dias)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623560" y="354787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~12%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858000" y="35478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 8–18 mi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320040" y="3950208"/>
            <a:ext cx="8503920" cy="438912"/>
          </a:xfrm>
          <a:prstGeom prst="rect">
            <a:avLst/>
          </a:prstGeom>
          <a:solidFill>
            <a:srgbClr val="F2F6FA"/>
          </a:solidFill>
          <a:ln w="635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4"/>
          <p:cNvSpPr/>
          <p:nvPr/>
        </p:nvSpPr>
        <p:spPr>
          <a:xfrm>
            <a:off x="502920" y="400507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Insumos — compra planejada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623560" y="400507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~8%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858000" y="40050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 5–10 mi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320040" y="4407408"/>
            <a:ext cx="8503920" cy="457200"/>
          </a:xfrm>
          <a:prstGeom prst="rect">
            <a:avLst/>
          </a:prstGeom>
          <a:solidFill>
            <a:srgbClr val="0E2B4A"/>
          </a:solidFill>
          <a:ln w="12700">
            <a:solidFill>
              <a:srgbClr val="0E2B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8"/>
          <p:cNvSpPr/>
          <p:nvPr/>
        </p:nvSpPr>
        <p:spPr>
          <a:xfrm>
            <a:off x="502920" y="442569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ESTIMADO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6858000" y="442569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R$ 73–148 mi/ano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E2B4A"/>
          </a:solidFill>
          <a:ln w="12700">
            <a:solidFill>
              <a:srgbClr val="0E2B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 e Payback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sobre investimento conservador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46177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57200" y="89611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 do Investimento (capex + opex · 3 anos)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4343400" cy="548640"/>
          </a:xfrm>
          <a:prstGeom prst="rect">
            <a:avLst/>
          </a:prstGeom>
          <a:solidFill>
            <a:srgbClr val="F2F6FA"/>
          </a:solidFill>
          <a:ln w="1270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54864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94360" y="1490472"/>
            <a:ext cx="272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e integração de dados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64992" y="149047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R$ 3–6 mi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039112"/>
            <a:ext cx="4343400" cy="548640"/>
          </a:xfrm>
          <a:prstGeom prst="rect">
            <a:avLst/>
          </a:prstGeom>
          <a:solidFill>
            <a:srgbClr val="F2F6FA"/>
          </a:solidFill>
          <a:ln w="1270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457200" y="2039112"/>
            <a:ext cx="54864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94360" y="2112264"/>
            <a:ext cx="272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 de nuvem e segurança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64992" y="211226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R$ 2–5 mi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660904"/>
            <a:ext cx="4343400" cy="548640"/>
          </a:xfrm>
          <a:prstGeom prst="rect">
            <a:avLst/>
          </a:prstGeom>
          <a:solidFill>
            <a:srgbClr val="F2F6FA"/>
          </a:solidFill>
          <a:ln w="1270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457200" y="2660904"/>
            <a:ext cx="54864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94360" y="2734056"/>
            <a:ext cx="272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Licenças de API/LLM e ferramentas de BI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64992" y="273405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R$ 1–3 mi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282696"/>
            <a:ext cx="4343400" cy="548640"/>
          </a:xfrm>
          <a:prstGeom prst="rect">
            <a:avLst/>
          </a:prstGeom>
          <a:solidFill>
            <a:srgbClr val="F2F6FA"/>
          </a:solidFill>
          <a:ln w="1270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457200" y="3282696"/>
            <a:ext cx="54864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594360" y="3355848"/>
            <a:ext cx="272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 e implantação nas unidades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64992" y="335584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R$ 2–6 mi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977640"/>
            <a:ext cx="4343400" cy="640080"/>
          </a:xfrm>
          <a:prstGeom prst="rect">
            <a:avLst/>
          </a:prstGeom>
          <a:solidFill>
            <a:srgbClr val="0E2B4A"/>
          </a:solidFill>
          <a:ln w="12700">
            <a:solidFill>
              <a:srgbClr val="0E2B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594360" y="400507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743200" y="400507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R$ 8–20 mi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074920" y="804672"/>
            <a:ext cx="3749040" cy="1965960"/>
          </a:xfrm>
          <a:prstGeom prst="rect">
            <a:avLst/>
          </a:prstGeom>
          <a:solidFill>
            <a:srgbClr val="D1FAE5"/>
          </a:solidFill>
          <a:ln w="25400">
            <a:solidFill>
              <a:srgbClr val="059669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5257800" y="89611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Conservador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74920" y="1316736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 24</a:t>
            </a:r>
            <a:endParaRPr lang="en-US" sz="3800" dirty="0"/>
          </a:p>
          <a:p>
            <a:pPr marL="0" indent="0" algn="ctr">
              <a:buNone/>
            </a:pPr>
            <a:r>
              <a:rPr lang="en-US" sz="3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</a:t>
            </a:r>
            <a:endParaRPr lang="en-US" sz="3800" dirty="0"/>
          </a:p>
        </p:txBody>
      </p:sp>
      <p:sp>
        <p:nvSpPr>
          <p:cNvPr id="29" name="Text 27"/>
          <p:cNvSpPr/>
          <p:nvPr/>
        </p:nvSpPr>
        <p:spPr>
          <a:xfrm>
            <a:off x="5257800" y="22677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(ramp-up gradual)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74920" y="2852928"/>
            <a:ext cx="3749040" cy="1828800"/>
          </a:xfrm>
          <a:prstGeom prst="rect">
            <a:avLst/>
          </a:prstGeom>
          <a:solidFill>
            <a:srgbClr val="0E2B4A"/>
          </a:solidFill>
          <a:ln w="19050">
            <a:solidFill>
              <a:srgbClr val="0891B2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5257800" y="294436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1º ano de operação plena: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57800" y="333756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R$ 73 mi ÷ R$ 20 mi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retorno em &lt; 4 meses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257800" y="416052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R$ 20 mi = menos de 3,5 dias do gasto diário de R$ 6 mi/dia do SUS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Impacto Além das Planilhas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B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os números não conseguem capturar completamente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713232"/>
          </a:xfrm>
          <a:prstGeom prst="rect">
            <a:avLst/>
          </a:prstGeom>
          <a:solidFill>
            <a:srgbClr val="112236"/>
          </a:solidFill>
          <a:ln w="12700">
            <a:solidFill>
              <a:srgbClr val="22335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1704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Vidas salvas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51560" y="1463040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de mortalidade por Síndrome Respiratória Aguda Grave — mortes que ocorrem hoje porque o sistema chega tarde demais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1901952"/>
            <a:ext cx="8412480" cy="713232"/>
          </a:xfrm>
          <a:prstGeom prst="rect">
            <a:avLst/>
          </a:prstGeom>
          <a:solidFill>
            <a:srgbClr val="112236"/>
          </a:solidFill>
          <a:ln w="12700">
            <a:solidFill>
              <a:srgbClr val="22335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066544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51560" y="195681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horas nas UPAs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051560" y="2249424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Famílias vulneráveis passam menos horas em corredores de pronto-socorro aguardando triagem com pacientes em estado crítico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65760" y="2688336"/>
            <a:ext cx="8412480" cy="713232"/>
          </a:xfrm>
          <a:prstGeom prst="rect">
            <a:avLst/>
          </a:prstGeom>
          <a:solidFill>
            <a:srgbClr val="112236"/>
          </a:solidFill>
          <a:ln w="12700">
            <a:solidFill>
              <a:srgbClr val="22335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852928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51560" y="27432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preservada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1051560" y="303580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Prevenção do colapso operacional — capacidade da rede mantida para urgências que não param durante crises respiratórias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365760" y="3474720"/>
            <a:ext cx="8412480" cy="713232"/>
          </a:xfrm>
          <a:prstGeom prst="rect">
            <a:avLst/>
          </a:prstGeom>
          <a:solidFill>
            <a:srgbClr val="112236"/>
          </a:solidFill>
          <a:ln w="12700">
            <a:solidFill>
              <a:srgbClr val="22335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639312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51560" y="352958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Profissionais de saúde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1051560" y="3822192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de trabalho mais justa para profissionais que operam hoje em modo de emergência crônica, sem suporte sistêmico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365760" y="4261104"/>
            <a:ext cx="8412480" cy="713232"/>
          </a:xfrm>
          <a:prstGeom prst="rect">
            <a:avLst/>
          </a:prstGeom>
          <a:solidFill>
            <a:srgbClr val="112236"/>
          </a:solidFill>
          <a:ln w="12700">
            <a:solidFill>
              <a:srgbClr val="22335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4425696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51560" y="43159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Legado científico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1051560" y="4608576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dados estruturada para pesquisa epidemiológica contínua — São Paulo como referência nacional em gestão preditiva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 e Próximos Passos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B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fases progressivas · Entregáveis claros em cada etapa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788920" cy="2880360"/>
          </a:xfrm>
          <a:prstGeom prst="rect">
            <a:avLst/>
          </a:prstGeom>
          <a:solidFill>
            <a:srgbClr val="112236"/>
          </a:solidFill>
          <a:ln w="19050">
            <a:solidFill>
              <a:srgbClr val="0891B2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278892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84632" y="1078992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97280" y="11155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de Conceito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4813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1 a 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" y="187452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C0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e tratamento dos dados históricos (SIVEP-Gripe/DataSUS 2009–2025)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4632" y="246888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C0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 do modelo preditivo com backtesting nas ondas de 2022–2024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4632" y="306324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C0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do módulo de NLP para classificação de prontuários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27832" y="1005840"/>
            <a:ext cx="2788920" cy="2880360"/>
          </a:xfrm>
          <a:prstGeom prst="rect">
            <a:avLst/>
          </a:prstGeom>
          <a:solidFill>
            <a:srgbClr val="112236"/>
          </a:solidFill>
          <a:ln w="19050">
            <a:solidFill>
              <a:srgbClr val="059669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3227832" y="1005840"/>
            <a:ext cx="278892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3392424" y="1078992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005072" y="11155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Operacional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005072" y="14813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4 a 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92424" y="187452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C0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 em 5 a 10 hospitais municipais escolhidos por volume e perfil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92424" y="246888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C0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CROSS/SP para validação do painel de redistribuição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92424" y="306324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C0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Ajustes baseados em aprendizados reais antes da expansão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35624" y="1005840"/>
            <a:ext cx="2788920" cy="2880360"/>
          </a:xfrm>
          <a:prstGeom prst="rect">
            <a:avLst/>
          </a:prstGeom>
          <a:solidFill>
            <a:srgbClr val="112236"/>
          </a:solidFill>
          <a:ln w="1905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6135624" y="1005840"/>
            <a:ext cx="27889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6300216" y="1078992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912864" y="11155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Expansão Total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12864" y="14813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7 a 12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00216" y="187452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C0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Expansão para toda a rede municipal e estadual de São Paulo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00216" y="246888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C0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Ativação dos critérios automáticos de hospitais sentinela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300216" y="306324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C0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 com InfoGripe/Fiocruz para calibração contínua do modelo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3977640"/>
            <a:ext cx="8604504" cy="841248"/>
          </a:xfrm>
          <a:prstGeom prst="rect">
            <a:avLst/>
          </a:prstGeom>
          <a:solidFill>
            <a:srgbClr val="0E2B4A"/>
          </a:solidFill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420715" y="4270248"/>
            <a:ext cx="78088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colapso hospitalar não é inevitável — é previsível. E o que é previsível pode ser prevenido."
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02920" y="44622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0275" y="4192524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2B4A"/>
          </a:solidFill>
          <a:ln w="12700">
            <a:solidFill>
              <a:srgbClr val="0E2B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 COM A CONCORRÊNCIA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1993392" cy="749808"/>
          </a:xfrm>
          <a:prstGeom prst="rect">
            <a:avLst/>
          </a:prstGeom>
          <a:solidFill>
            <a:srgbClr val="0E2B4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56032" y="749808"/>
            <a:ext cx="19933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267712" y="749808"/>
            <a:ext cx="2176272" cy="749808"/>
          </a:xfrm>
          <a:prstGeom prst="rect">
            <a:avLst/>
          </a:prstGeom>
          <a:solidFill>
            <a:srgbClr val="0E2B4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2267712" y="749808"/>
            <a:ext cx="21762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Tradicional (PDF)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62272" y="749808"/>
            <a:ext cx="2176272" cy="749808"/>
          </a:xfrm>
          <a:prstGeom prst="rect">
            <a:avLst/>
          </a:prstGeom>
          <a:solidFill>
            <a:srgbClr val="0E2B4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462272" y="749808"/>
            <a:ext cx="21762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Soluções de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Estático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656832" y="749808"/>
            <a:ext cx="2231136" cy="749808"/>
          </a:xfrm>
          <a:prstGeom prst="rect">
            <a:avLst/>
          </a:prstGeom>
          <a:solidFill>
            <a:srgbClr val="16998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656832" y="749808"/>
            <a:ext cx="223113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Respirar SUS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(Data Squad) ✅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56032" y="1499616"/>
            <a:ext cx="1993392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2267712" y="1499616"/>
            <a:ext cx="2176272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462272" y="1499616"/>
            <a:ext cx="2176272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6656832" y="1499616"/>
            <a:ext cx="2231136" cy="685800"/>
          </a:xfrm>
          <a:prstGeom prst="rect">
            <a:avLst/>
          </a:prstGeom>
          <a:solidFill>
            <a:srgbClr val="E8F7F5"/>
          </a:solidFill>
          <a:ln w="635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384048" y="1499616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Sazonal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450592" y="1499616"/>
            <a:ext cx="19568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possui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645152" y="1499616"/>
            <a:ext cx="19568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</a:t>
            </a: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Baseada no passado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839712" y="1499616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7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Preditiva (IA)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56032" y="2203704"/>
            <a:ext cx="1993392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2267712" y="2203704"/>
            <a:ext cx="2176272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4462272" y="2203704"/>
            <a:ext cx="2176272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6656832" y="2203704"/>
            <a:ext cx="2231136" cy="685800"/>
          </a:xfrm>
          <a:prstGeom prst="rect">
            <a:avLst/>
          </a:prstGeom>
          <a:solidFill>
            <a:srgbClr val="E8F7F5"/>
          </a:solidFill>
          <a:ln w="635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384048" y="2203704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450592" y="2203704"/>
            <a:ext cx="19568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  </a:t>
            </a: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Estática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645152" y="2203704"/>
            <a:ext cx="19568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▐  </a:t>
            </a: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839712" y="2203704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</a:t>
            </a:r>
            <a:r>
              <a:rPr lang="en-US" sz="11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Natural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56032" y="2907792"/>
            <a:ext cx="1993392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2267712" y="2907792"/>
            <a:ext cx="2176272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4462272" y="2907792"/>
            <a:ext cx="2176272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6656832" y="2907792"/>
            <a:ext cx="2231136" cy="685800"/>
          </a:xfrm>
          <a:prstGeom prst="rect">
            <a:avLst/>
          </a:prstGeom>
          <a:solidFill>
            <a:srgbClr val="E8F7F5"/>
          </a:solidFill>
          <a:ln w="635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384048" y="290779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CNES/SUS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2450592" y="2907792"/>
            <a:ext cx="19568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  </a:t>
            </a: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645152" y="2907792"/>
            <a:ext cx="19568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839712" y="2907792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7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Automática (JSON/SQL/CSV)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56032" y="3611880"/>
            <a:ext cx="1993392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Shape 35"/>
          <p:cNvSpPr/>
          <p:nvPr/>
        </p:nvSpPr>
        <p:spPr>
          <a:xfrm>
            <a:off x="2267712" y="3611880"/>
            <a:ext cx="2176272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Shape 36"/>
          <p:cNvSpPr/>
          <p:nvPr/>
        </p:nvSpPr>
        <p:spPr>
          <a:xfrm>
            <a:off x="4462272" y="3611880"/>
            <a:ext cx="2176272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Shape 37"/>
          <p:cNvSpPr/>
          <p:nvPr/>
        </p:nvSpPr>
        <p:spPr>
          <a:xfrm>
            <a:off x="6656832" y="3611880"/>
            <a:ext cx="2231136" cy="685800"/>
          </a:xfrm>
          <a:prstGeom prst="rect">
            <a:avLst/>
          </a:prstGeom>
          <a:solidFill>
            <a:srgbClr val="E8F7F5"/>
          </a:solidFill>
          <a:ln w="635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384048" y="36118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Giro de Leitos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2450592" y="3611880"/>
            <a:ext cx="19568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🐢 Lento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4645152" y="3611880"/>
            <a:ext cx="19568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🚶 Médio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839712" y="36118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Tempo Real via NLP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256032" y="4315968"/>
            <a:ext cx="1993392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Shape 43"/>
          <p:cNvSpPr/>
          <p:nvPr/>
        </p:nvSpPr>
        <p:spPr>
          <a:xfrm>
            <a:off x="2267712" y="4315968"/>
            <a:ext cx="2176272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Shape 44"/>
          <p:cNvSpPr/>
          <p:nvPr/>
        </p:nvSpPr>
        <p:spPr>
          <a:xfrm>
            <a:off x="4462272" y="4315968"/>
            <a:ext cx="2176272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Shape 45"/>
          <p:cNvSpPr/>
          <p:nvPr/>
        </p:nvSpPr>
        <p:spPr>
          <a:xfrm>
            <a:off x="6656832" y="4315968"/>
            <a:ext cx="2231136" cy="685800"/>
          </a:xfrm>
          <a:prstGeom prst="rect">
            <a:avLst/>
          </a:prstGeom>
          <a:solidFill>
            <a:srgbClr val="E8F7F5"/>
          </a:solidFill>
          <a:ln w="635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384048" y="431596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Operação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2450592" y="4315968"/>
            <a:ext cx="19568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Alto (retrabalho)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4645152" y="4315968"/>
            <a:ext cx="19568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Médio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6839712" y="4315968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2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  Baixo (automatizado)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B9E9E133-8D2B-CE6B-8B2D-25FF81385674}"/>
              </a:ext>
            </a:extLst>
          </p:cNvPr>
          <p:cNvSpPr txBox="1"/>
          <p:nvPr/>
        </p:nvSpPr>
        <p:spPr>
          <a:xfrm>
            <a:off x="5900384" y="4408227"/>
            <a:ext cx="2174542" cy="261610"/>
          </a:xfrm>
          <a:prstGeom prst="rect">
            <a:avLst/>
          </a:prstGeom>
          <a:solidFill>
            <a:srgbClr val="0C2137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100" dirty="0" err="1">
                <a:solidFill>
                  <a:schemeClr val="bg1"/>
                </a:solidFill>
              </a:rPr>
              <a:t>VigiAr</a:t>
            </a:r>
            <a:r>
              <a:rPr lang="pt-BR" sz="1100" dirty="0">
                <a:solidFill>
                  <a:schemeClr val="bg1"/>
                </a:solidFill>
              </a:rPr>
              <a:t>   .   Data </a:t>
            </a:r>
            <a:r>
              <a:rPr lang="pt-BR" sz="1100" dirty="0" err="1">
                <a:solidFill>
                  <a:schemeClr val="bg1"/>
                </a:solidFill>
              </a:rPr>
              <a:t>Squad</a:t>
            </a:r>
            <a:r>
              <a:rPr lang="pt-BR" sz="1100" dirty="0">
                <a:solidFill>
                  <a:schemeClr val="bg1"/>
                </a:solidFill>
              </a:rPr>
              <a:t>   . 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1700</Words>
  <Application>Microsoft Office PowerPoint</Application>
  <PresentationFormat>Apresentação na tela (16:9)</PresentationFormat>
  <Paragraphs>276</Paragraphs>
  <Slides>18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2" baseType="lpstr">
      <vt:lpstr>Arial</vt:lpstr>
      <vt:lpstr>Arial Black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Inteligente de Previsão e Gestão de Crises Respiratórias</dc:title>
  <dc:subject>PptxGenJS Presentation</dc:subject>
  <dc:creator>Data Squad</dc:creator>
  <cp:lastModifiedBy>João Marcos Borba Rodrigues Gonçalves</cp:lastModifiedBy>
  <cp:revision>11</cp:revision>
  <dcterms:created xsi:type="dcterms:W3CDTF">2026-04-26T23:32:33Z</dcterms:created>
  <dcterms:modified xsi:type="dcterms:W3CDTF">2026-04-27T02:01:45Z</dcterms:modified>
</cp:coreProperties>
</file>