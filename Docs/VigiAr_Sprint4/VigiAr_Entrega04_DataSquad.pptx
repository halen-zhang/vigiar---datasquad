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8" dt="2026-09-14T19:20:18.092"/>
    <p1510:client id="{5C3EEFC8-EED8-494D-A401-D342243BC603}" v="16" dt="2026-09-14T19:10:47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F6E5E-F860-4E15-981B-6C4EF1B65196}" type="datetimeFigureOut">
              <a:t>14/09/2026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E4EC5-CF92-4D8F-A65C-79BA9AD4B0AD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1394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14AC9-9564-BCA9-5DD5-5B44E3E83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CE4A5-9F66-79CC-BB55-72B340B7A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F34C3-E398-B1F9-7F8B-2F6A532AB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ACD43-761B-1C53-50F4-DF8ABDADD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67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.png"/><Relationship Id="rId5" Type="http://schemas.openxmlformats.org/officeDocument/2006/relationships/image" Target="../media/image10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youtu.be/jEOOi8DStb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5029200" cy="5029200"/>
          </a:xfrm>
          <a:prstGeom prst="ellipse">
            <a:avLst/>
          </a:prstGeom>
          <a:solidFill>
            <a:srgbClr val="1A3A5C">
              <a:alpha val="30000"/>
            </a:srgbClr>
          </a:solidFill>
          <a:ln w="12700">
            <a:solidFill>
              <a:srgbClr val="1A3A5C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914400"/>
            <a:ext cx="3840480" cy="3840480"/>
          </a:xfrm>
          <a:prstGeom prst="ellipse">
            <a:avLst/>
          </a:prstGeom>
          <a:solidFill>
            <a:srgbClr val="1E4A7C">
              <a:alpha val="30000"/>
            </a:srgbClr>
          </a:solidFill>
          <a:ln w="12700">
            <a:solidFill>
              <a:srgbClr val="1E4A7C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645920"/>
            <a:ext cx="2560320" cy="2560320"/>
          </a:xfrm>
          <a:prstGeom prst="ellipse">
            <a:avLst/>
          </a:prstGeom>
          <a:solidFill>
            <a:srgbClr val="2D6AC4">
              <a:alpha val="30000"/>
            </a:srgbClr>
          </a:solidFill>
          <a:ln w="12700">
            <a:solidFill>
              <a:srgbClr val="2D6AC4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926080"/>
            <a:ext cx="5029200" cy="36576"/>
          </a:xfrm>
          <a:prstGeom prst="rect">
            <a:avLst/>
          </a:prstGeom>
          <a:solidFill>
            <a:srgbClr val="2D6A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914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8ABADC"/>
                </a:solidFill>
              </a:rPr>
              <a:t>2026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kern="0" spc="800" dirty="0">
                <a:solidFill>
                  <a:srgbClr val="FFFFFF"/>
                </a:solidFill>
              </a:rPr>
              <a:t>CHALLENGE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10896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⬤  ORACLE + FIAP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FD8C0"/>
                </a:solidFill>
              </a:rPr>
              <a:t>VigiAr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63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BADC"/>
                </a:solidFill>
              </a:rPr>
              <a:t>Vigilância Preditiva de Surtos Respiratórios — São Paulo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A9A"/>
                </a:solidFill>
              </a:rPr>
              <a:t>DataSquad · Turma 1TSCPF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0"/>
            <a:ext cx="1188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  DETALHES INICIAIS DA EQUIPE E DO PROJETO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2D2D"/>
                </a:solidFill>
              </a:rPr>
              <a:t>ATENÇÃO!  Entrega obrigatória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9144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1F4E"/>
                </a:solidFill>
              </a:rPr>
              <a:t>VigiAr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D6AC4"/>
                </a:solidFill>
              </a:rPr>
              <a:t>Vigilância Preditiva de Surtos Respiratórios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80"/>
                </a:solidFill>
              </a:rPr>
              <a:t>Turma: 1TSCPF   |   Equipe: DataSquad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53312"/>
          <a:ext cx="3749040" cy="17556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Nome do Aluno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Halen Zhang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RM569733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Igor Soares Silva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RM569254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João Marcos Borba Rodrigues Gonçalves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RM571021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João Ricardo Travaglin Abi Saber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RM573129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Vitor Franco Benvenuto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RM573286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389120" y="2240280"/>
            <a:ext cx="7406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774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2359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E"/>
                </a:solidFill>
              </a:rPr>
              <a:t>Sobre a solução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724912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O VigiAr consolida dados públicos de saúde (SIVEP-Gripe/SRAG), leitos SUS, população e temperatura em um banco analítico Oracle Autonomous AI Database. Com Holt-Winters e Random Forest, projeta surtos de SRAG com 4 semanas de antecedência — permitindo ao gestor do CROS-SP agir antes que os hospitais lotem.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84048" y="4572000"/>
            <a:ext cx="1275588" cy="301752"/>
          </a:xfrm>
          <a:prstGeom prst="roundRect">
            <a:avLst>
              <a:gd name="adj" fmla="val 15152"/>
            </a:avLst>
          </a:prstGeom>
          <a:solidFill>
            <a:srgbClr val="2D6AC4"/>
          </a:solidFill>
          <a:ln w="12700">
            <a:solidFill>
              <a:srgbClr val="2D6AC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84048" y="4572000"/>
            <a:ext cx="12755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SIVEP-Gripe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258568" y="4572000"/>
            <a:ext cx="1449324" cy="301752"/>
          </a:xfrm>
          <a:prstGeom prst="roundRect">
            <a:avLst>
              <a:gd name="adj" fmla="val 15152"/>
            </a:avLst>
          </a:prstGeom>
          <a:solidFill>
            <a:srgbClr val="2D6AC4"/>
          </a:solidFill>
          <a:ln w="12700">
            <a:solidFill>
              <a:srgbClr val="2D6AC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258568" y="4572000"/>
            <a:ext cx="14493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CNES (Leitos)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133088" y="4572000"/>
            <a:ext cx="1275588" cy="301752"/>
          </a:xfrm>
          <a:prstGeom prst="roundRect">
            <a:avLst>
              <a:gd name="adj" fmla="val 15152"/>
            </a:avLst>
          </a:prstGeom>
          <a:solidFill>
            <a:srgbClr val="2D6AC4"/>
          </a:solidFill>
          <a:ln w="12700">
            <a:solidFill>
              <a:srgbClr val="2D6AC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133088" y="4572000"/>
            <a:ext cx="12755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IBGE (Pop.)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07608" y="4572000"/>
            <a:ext cx="1449324" cy="301752"/>
          </a:xfrm>
          <a:prstGeom prst="roundRect">
            <a:avLst>
              <a:gd name="adj" fmla="val 15152"/>
            </a:avLst>
          </a:prstGeom>
          <a:solidFill>
            <a:srgbClr val="2D6AC4"/>
          </a:solidFill>
          <a:ln w="12700">
            <a:solidFill>
              <a:srgbClr val="2D6AC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007608" y="4572000"/>
            <a:ext cx="14493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INMET (Clima)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65760" y="5961888"/>
            <a:ext cx="1170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SOLUÇÃO FINAL — RESUMO: Plataforma preditiva de vigilância respiratória. 645 municípios. 106 semanas. 104.412 casos monitorados. Previsão de surto com 4 semanas de antecedência.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0"/>
            <a:ext cx="1188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  COMPREENDENDO O DESAFIO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88952" cy="548640"/>
          </a:xfrm>
          <a:prstGeom prst="rect">
            <a:avLst/>
          </a:prstGeom>
          <a:solidFill>
            <a:srgbClr val="2D6A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777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 problema que ninguém conseguia ver com clareza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2D2D"/>
                </a:solidFill>
              </a:rPr>
              <a:t>ATENÇÃO!  Entrega obrigatória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3703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7830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97280" y="1810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573F"/>
                </a:solidFill>
              </a:rPr>
              <a:t>Dados fragmentados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" y="2359152"/>
            <a:ext cx="3291840" cy="22860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" y="242316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SRAG, leitos, clima e população existiam — mas em 4 sistemas distintos, sem nenhum ponto de cruzamento automático.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51960" y="1600200"/>
            <a:ext cx="3703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7830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29200" y="1810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</a:rPr>
              <a:t>Resposta sempre reativa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416552" y="2359152"/>
            <a:ext cx="3291840" cy="22860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416552" y="242316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Sem alerta antecipado, o gestor só via o surto quando os hospitais já estavam lotando. Tarde demais para redistribuir leitos.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83880" y="1600200"/>
            <a:ext cx="3703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17830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61120" y="1810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C4"/>
                </a:solidFill>
              </a:rPr>
              <a:t>645 municípios, zero visibilidade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348472" y="2359152"/>
            <a:ext cx="3291840" cy="22860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348472" y="242316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O estado de SP tem 645 municípios. Nenhum painel consolidava a situação de todos de forma semanal e comparável.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20040" y="4663440"/>
            <a:ext cx="11521440" cy="1051560"/>
          </a:xfrm>
          <a:prstGeom prst="rect">
            <a:avLst/>
          </a:prstGeom>
          <a:solidFill>
            <a:srgbClr val="0B1F4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773168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05840" y="46908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</a:rPr>
              <a:t>"A tecnologia para resolver isso já existia. Os dados eram públicos. Faltava alguém juntar tudo — e era isso que a bancada precisava ver."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0"/>
            <a:ext cx="1188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 OBJETIVO DO PROJETO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88952" cy="548640"/>
          </a:xfrm>
          <a:prstGeom prst="rect">
            <a:avLst/>
          </a:prstGeom>
          <a:solidFill>
            <a:srgbClr val="2D6A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777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 que a equipe se comprometeu a entregar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2D2D"/>
                </a:solidFill>
              </a:rPr>
              <a:t>ATENÇÃO!  Entrega obrigatória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11567160" cy="1005840"/>
          </a:xfrm>
          <a:prstGeom prst="rect">
            <a:avLst/>
          </a:prstGeom>
          <a:solidFill>
            <a:srgbClr val="2D6AC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148132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Prever, com 4 semanas de antecedência, os municípios paulistas com maior risco de surto de SRAG — permitindo ao CROS-SP agir antes da sobrecarga hospitalar.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2697480"/>
            <a:ext cx="3657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" y="2834640"/>
            <a:ext cx="594360" cy="594360"/>
          </a:xfrm>
          <a:prstGeom prst="ellipse">
            <a:avLst/>
          </a:prstGeom>
          <a:solidFill>
            <a:srgbClr val="2D6AC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4632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8346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84632" y="3493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E"/>
                </a:solidFill>
              </a:rPr>
              <a:t>Consolidar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4632" y="3931920"/>
            <a:ext cx="3291840" cy="22860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84632" y="400507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Unir SIVEP-Gripe, leitos SUS, população IBGE e temperatura INMET em um único banco analítico Oracle ADB.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251960" y="2697480"/>
            <a:ext cx="3657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16552" y="2834640"/>
            <a:ext cx="594360" cy="594360"/>
          </a:xfrm>
          <a:prstGeom prst="ellipse">
            <a:avLst/>
          </a:prstGeom>
          <a:solidFill>
            <a:srgbClr val="2D6AC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416552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28346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416552" y="3493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E"/>
                </a:solidFill>
              </a:rPr>
              <a:t>Prever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416552" y="3931920"/>
            <a:ext cx="3291840" cy="22860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416552" y="400507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Treinar modelos (Holt-Winters + Random Forest) para antecipar surtos de SRAG por município e semana.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183880" y="2697480"/>
            <a:ext cx="3657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348472" y="2834640"/>
            <a:ext cx="594360" cy="594360"/>
          </a:xfrm>
          <a:prstGeom prst="ellipse">
            <a:avLst/>
          </a:prstGeom>
          <a:solidFill>
            <a:srgbClr val="2D6AC4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348472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283464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48472" y="3493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E"/>
                </a:solidFill>
              </a:rPr>
              <a:t>Consultar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8348472" y="3931920"/>
            <a:ext cx="3291840" cy="22860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348472" y="400507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Permitir consultas em linguagem natural via Oracle Select AI — sem necessidade de SQL manual pelo gestor.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320040" y="5413248"/>
            <a:ext cx="1156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A80"/>
                </a:solidFill>
              </a:rPr>
              <a:t>Todos os três objetivos foram entregues nas quatro sprints do Challenge — dados, modelo e painel estão em produção no Oracle Cloud.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0"/>
            <a:ext cx="1188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  PROJETO REALIZADO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88952" cy="548640"/>
          </a:xfrm>
          <a:prstGeom prst="rect">
            <a:avLst/>
          </a:prstGeom>
          <a:solidFill>
            <a:srgbClr val="2D6A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777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Arquitetura Kappa + Machine Learning + Oracle Cloud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2D2D"/>
                </a:solidFill>
              </a:rPr>
              <a:t>ATENÇÃO!  Entrega obrigatória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7532" y="16459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175564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7532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C4"/>
                </a:solidFill>
              </a:rPr>
              <a:t>Extract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73252" y="2286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OCI Object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Storage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56332" y="2327148"/>
            <a:ext cx="347472" cy="54864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775204" y="21717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4EF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03804" y="16459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84" y="175564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003804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C4"/>
                </a:solidFill>
              </a:rPr>
              <a:t>Transform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049524" y="2286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Python/pandas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ETL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832604" y="2327148"/>
            <a:ext cx="347472" cy="54864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951476" y="21717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4EF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180076" y="16459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956" y="175564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180076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</a:rPr>
              <a:t>Validate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225796" y="2286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Schema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consistência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008876" y="2327148"/>
            <a:ext cx="347472" cy="54864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127748" y="21717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4EF"/>
                </a:solidFill>
              </a:rPr>
              <a:t>▶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356348" y="16459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9228" y="175564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5634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C4"/>
                </a:solidFill>
              </a:rPr>
              <a:t>Load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402068" y="2286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Oracle ADB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26ai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9185148" y="2327148"/>
            <a:ext cx="347472" cy="54864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304020" y="21717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4EF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532620" y="16459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755648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5326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994A"/>
                </a:solidFill>
              </a:rPr>
              <a:t>Train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78340" y="2286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Random Forest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Holt-Winters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80"/>
                </a:solidFill>
              </a:rPr>
              <a:t>Pipeline Apache Airflow (vigiar_pipeline_kappa) — 5 tasks com execução validada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320040" y="3657600"/>
            <a:ext cx="2194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794760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2004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6AC4"/>
                </a:solidFill>
              </a:rPr>
              <a:t>645</a:t>
            </a:r>
            <a:endParaRPr lang="en-US" sz="2800" dirty="0"/>
          </a:p>
        </p:txBody>
      </p:sp>
      <p:sp>
        <p:nvSpPr>
          <p:cNvPr id="40" name="Text 32"/>
          <p:cNvSpPr txBox="1"/>
          <p:nvPr/>
        </p:nvSpPr>
        <p:spPr>
          <a:xfrm>
            <a:off x="320040" y="4407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</a:rPr>
              <a:t>Municípios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</a:rPr>
              <a:t>monitorados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2697480" y="3657600"/>
            <a:ext cx="2194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4640" y="3794760"/>
            <a:ext cx="411480" cy="41148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269748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6AC4"/>
                </a:solidFill>
              </a:rPr>
              <a:t>106</a:t>
            </a:r>
            <a:endParaRPr lang="en-US" sz="2800" dirty="0"/>
          </a:p>
        </p:txBody>
      </p:sp>
      <p:sp>
        <p:nvSpPr>
          <p:cNvPr id="44" name="Text 35"/>
          <p:cNvSpPr txBox="1"/>
          <p:nvPr/>
        </p:nvSpPr>
        <p:spPr>
          <a:xfrm>
            <a:off x="2697480" y="4407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</a:rPr>
              <a:t>Semanas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</a:rPr>
              <a:t>dados (2024-2025)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5074920" y="3657600"/>
            <a:ext cx="2194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2080" y="3794760"/>
            <a:ext cx="411480" cy="41148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507492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573F"/>
                </a:solidFill>
              </a:rPr>
              <a:t>104k</a:t>
            </a:r>
            <a:endParaRPr lang="en-US" sz="2800" dirty="0"/>
          </a:p>
        </p:txBody>
      </p:sp>
      <p:sp>
        <p:nvSpPr>
          <p:cNvPr id="48" name="Text 38"/>
          <p:cNvSpPr txBox="1"/>
          <p:nvPr/>
        </p:nvSpPr>
        <p:spPr>
          <a:xfrm>
            <a:off x="5074920" y="4407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</a:rPr>
              <a:t>Casos SRAG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</a:rPr>
              <a:t>consolidados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7452360" y="3657600"/>
            <a:ext cx="2194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9520" y="3794760"/>
            <a:ext cx="411480" cy="411480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45236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</a:rPr>
              <a:t>R²=0.92</a:t>
            </a:r>
            <a:endParaRPr lang="en-US" sz="2800" dirty="0"/>
          </a:p>
        </p:txBody>
      </p:sp>
      <p:sp>
        <p:nvSpPr>
          <p:cNvPr id="52" name="Text 41"/>
          <p:cNvSpPr txBox="1"/>
          <p:nvPr/>
        </p:nvSpPr>
        <p:spPr>
          <a:xfrm>
            <a:off x="7452360" y="4407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</a:rPr>
              <a:t>Acurácia 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9829800" y="3657600"/>
            <a:ext cx="2194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6960" y="3794760"/>
            <a:ext cx="411480" cy="41148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982980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994A"/>
                </a:solidFill>
              </a:rPr>
              <a:t>≤4sem</a:t>
            </a:r>
            <a:endParaRPr lang="en-US" sz="2800" dirty="0"/>
          </a:p>
        </p:txBody>
      </p:sp>
      <p:sp>
        <p:nvSpPr>
          <p:cNvPr id="56" name="Text 44"/>
          <p:cNvSpPr txBox="1"/>
          <p:nvPr/>
        </p:nvSpPr>
        <p:spPr>
          <a:xfrm>
            <a:off x="9829800" y="4407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</a:rPr>
              <a:t>Horizonte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</a:rPr>
              <a:t>previsão</a:t>
            </a:r>
            <a:endParaRPr lang="en-US" sz="1000" dirty="0"/>
          </a:p>
        </p:txBody>
      </p:sp>
      <p:sp>
        <p:nvSpPr>
          <p:cNvPr id="57" name="Shape 45"/>
          <p:cNvSpPr/>
          <p:nvPr/>
        </p:nvSpPr>
        <p:spPr>
          <a:xfrm>
            <a:off x="320040" y="4983480"/>
            <a:ext cx="841248" cy="301752"/>
          </a:xfrm>
          <a:prstGeom prst="roundRect">
            <a:avLst>
              <a:gd name="adj" fmla="val 15152"/>
            </a:avLst>
          </a:prstGeom>
          <a:solidFill>
            <a:srgbClr val="0B1F4E"/>
          </a:solidFill>
          <a:ln w="12700">
            <a:solidFill>
              <a:srgbClr val="0B1F4E"/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320040" y="4983480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2697480" y="4983480"/>
            <a:ext cx="1536192" cy="301752"/>
          </a:xfrm>
          <a:prstGeom prst="roundRect">
            <a:avLst>
              <a:gd name="adj" fmla="val 15152"/>
            </a:avLst>
          </a:prstGeom>
          <a:solidFill>
            <a:srgbClr val="0B1F4E"/>
          </a:solidFill>
          <a:ln w="12700">
            <a:solidFill>
              <a:srgbClr val="0B1F4E"/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2697480" y="4983480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Apache Airflow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5074920" y="4983480"/>
            <a:ext cx="1883664" cy="301752"/>
          </a:xfrm>
          <a:prstGeom prst="roundRect">
            <a:avLst>
              <a:gd name="adj" fmla="val 15152"/>
            </a:avLst>
          </a:prstGeom>
          <a:solidFill>
            <a:srgbClr val="0B1F4E"/>
          </a:solidFill>
          <a:ln w="12700">
            <a:solidFill>
              <a:srgbClr val="0B1F4E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5074920" y="4983480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OCI Object Storage</a:t>
            </a:r>
            <a:endParaRPr lang="en-US" sz="900" dirty="0"/>
          </a:p>
        </p:txBody>
      </p:sp>
      <p:sp>
        <p:nvSpPr>
          <p:cNvPr id="63" name="Shape 51"/>
          <p:cNvSpPr/>
          <p:nvPr/>
        </p:nvSpPr>
        <p:spPr>
          <a:xfrm>
            <a:off x="7452360" y="4983480"/>
            <a:ext cx="1623060" cy="301752"/>
          </a:xfrm>
          <a:prstGeom prst="roundRect">
            <a:avLst>
              <a:gd name="adj" fmla="val 15152"/>
            </a:avLst>
          </a:prstGeom>
          <a:solidFill>
            <a:srgbClr val="0B1F4E"/>
          </a:solidFill>
          <a:ln w="12700">
            <a:solidFill>
              <a:srgbClr val="0B1F4E"/>
            </a:solidFill>
            <a:prstDash val="solid"/>
          </a:ln>
        </p:spPr>
      </p:sp>
      <p:sp>
        <p:nvSpPr>
          <p:cNvPr id="64" name="Text 52"/>
          <p:cNvSpPr txBox="1"/>
          <p:nvPr/>
        </p:nvSpPr>
        <p:spPr>
          <a:xfrm>
            <a:off x="7452360" y="4983480"/>
            <a:ext cx="16230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 ADB 26ai</a:t>
            </a:r>
            <a:endParaRPr lang="en-US" sz="900" dirty="0"/>
          </a:p>
        </p:txBody>
      </p:sp>
      <p:sp>
        <p:nvSpPr>
          <p:cNvPr id="65" name="Shape 53"/>
          <p:cNvSpPr/>
          <p:nvPr/>
        </p:nvSpPr>
        <p:spPr>
          <a:xfrm>
            <a:off x="9829800" y="4983480"/>
            <a:ext cx="1883664" cy="301752"/>
          </a:xfrm>
          <a:prstGeom prst="roundRect">
            <a:avLst>
              <a:gd name="adj" fmla="val 15152"/>
            </a:avLst>
          </a:prstGeom>
          <a:solidFill>
            <a:srgbClr val="0B1F4E"/>
          </a:solidFill>
          <a:ln w="12700">
            <a:solidFill>
              <a:srgbClr val="0B1F4E"/>
            </a:solidFill>
            <a:prstDash val="solid"/>
          </a:ln>
        </p:spPr>
      </p:sp>
      <p:sp>
        <p:nvSpPr>
          <p:cNvPr id="66" name="Text 54"/>
          <p:cNvSpPr txBox="1"/>
          <p:nvPr/>
        </p:nvSpPr>
        <p:spPr>
          <a:xfrm>
            <a:off x="9829800" y="4983480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Select AI (Cohere)</a:t>
            </a:r>
            <a:endParaRPr lang="en-US" sz="900" dirty="0"/>
          </a:p>
        </p:txBody>
      </p:sp>
      <p:sp>
        <p:nvSpPr>
          <p:cNvPr id="67" name="Shape 55"/>
          <p:cNvSpPr/>
          <p:nvPr/>
        </p:nvSpPr>
        <p:spPr>
          <a:xfrm>
            <a:off x="320040" y="5330952"/>
            <a:ext cx="1275588" cy="301752"/>
          </a:xfrm>
          <a:prstGeom prst="roundRect">
            <a:avLst>
              <a:gd name="adj" fmla="val 15152"/>
            </a:avLst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</p:sp>
      <p:sp>
        <p:nvSpPr>
          <p:cNvPr id="68" name="Text 56"/>
          <p:cNvSpPr txBox="1"/>
          <p:nvPr/>
        </p:nvSpPr>
        <p:spPr>
          <a:xfrm>
            <a:off x="320040" y="5330952"/>
            <a:ext cx="12755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SIVEP-Gripe</a:t>
            </a:r>
            <a:endParaRPr lang="en-US" sz="900" dirty="0"/>
          </a:p>
        </p:txBody>
      </p:sp>
      <p:sp>
        <p:nvSpPr>
          <p:cNvPr id="69" name="Shape 57"/>
          <p:cNvSpPr/>
          <p:nvPr/>
        </p:nvSpPr>
        <p:spPr>
          <a:xfrm>
            <a:off x="2697480" y="5330952"/>
            <a:ext cx="667512" cy="301752"/>
          </a:xfrm>
          <a:prstGeom prst="roundRect">
            <a:avLst>
              <a:gd name="adj" fmla="val 15152"/>
            </a:avLst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</p:sp>
      <p:sp>
        <p:nvSpPr>
          <p:cNvPr id="70" name="Text 58"/>
          <p:cNvSpPr txBox="1"/>
          <p:nvPr/>
        </p:nvSpPr>
        <p:spPr>
          <a:xfrm>
            <a:off x="2697480" y="5330952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CNES</a:t>
            </a:r>
            <a:endParaRPr lang="en-US" sz="900" dirty="0"/>
          </a:p>
        </p:txBody>
      </p:sp>
      <p:sp>
        <p:nvSpPr>
          <p:cNvPr id="71" name="Shape 59"/>
          <p:cNvSpPr/>
          <p:nvPr/>
        </p:nvSpPr>
        <p:spPr>
          <a:xfrm>
            <a:off x="5074920" y="5330952"/>
            <a:ext cx="667512" cy="301752"/>
          </a:xfrm>
          <a:prstGeom prst="roundRect">
            <a:avLst>
              <a:gd name="adj" fmla="val 15152"/>
            </a:avLst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</p:sp>
      <p:sp>
        <p:nvSpPr>
          <p:cNvPr id="72" name="Text 60"/>
          <p:cNvSpPr txBox="1"/>
          <p:nvPr/>
        </p:nvSpPr>
        <p:spPr>
          <a:xfrm>
            <a:off x="5074920" y="5330952"/>
            <a:ext cx="667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IBGE</a:t>
            </a:r>
            <a:endParaRPr lang="en-US" sz="900" dirty="0"/>
          </a:p>
        </p:txBody>
      </p:sp>
      <p:sp>
        <p:nvSpPr>
          <p:cNvPr id="73" name="Shape 61"/>
          <p:cNvSpPr/>
          <p:nvPr/>
        </p:nvSpPr>
        <p:spPr>
          <a:xfrm>
            <a:off x="7452360" y="5330952"/>
            <a:ext cx="754380" cy="301752"/>
          </a:xfrm>
          <a:prstGeom prst="roundRect">
            <a:avLst>
              <a:gd name="adj" fmla="val 15152"/>
            </a:avLst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</p:sp>
      <p:sp>
        <p:nvSpPr>
          <p:cNvPr id="74" name="Text 62"/>
          <p:cNvSpPr txBox="1"/>
          <p:nvPr/>
        </p:nvSpPr>
        <p:spPr>
          <a:xfrm>
            <a:off x="7452360" y="5330952"/>
            <a:ext cx="7543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INMET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0"/>
            <a:ext cx="1188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  DEMONSTRAÇÃO DA SOLUÇÃO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88952" cy="548640"/>
          </a:xfrm>
          <a:prstGeom prst="rect">
            <a:avLst/>
          </a:prstGeom>
          <a:solidFill>
            <a:srgbClr val="2D6A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777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 painel que o gestor do CROS-SP usaria hoje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2D2D"/>
                </a:solidFill>
              </a:rPr>
              <a:t>ATENÇÃO!  Entrega obrigatória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53949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05840" y="17099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E"/>
                </a:solidFill>
              </a:rPr>
              <a:t>O que a bancada pode ver agora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2240280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📍  Mapa de risco por município (2024, 2025 e previsão 2026)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724912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📈  Canal endêmico com detecção automática de anomalias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3209544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🔮  Previsão Holt-Winters com intervalo de confiança de 95%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3694176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🌡️  Lag Analysis: queda de temperatura → alta em UTI (r = –0,42)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4178808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🤖  Consultas em linguagem natural via Oracle Select AI SHOWSQL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4663440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📊  Rankings: volume, taxa/10k hab., pressão sobre leitos SUS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1554480"/>
            <a:ext cx="5897880" cy="4709160"/>
          </a:xfrm>
          <a:prstGeom prst="rect">
            <a:avLst/>
          </a:prstGeom>
          <a:solidFill>
            <a:srgbClr val="0B1F4E"/>
          </a:solidFill>
          <a:ln w="12700">
            <a:solidFill>
              <a:srgbClr val="DDE4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166420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 AI — Consultas executadas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2240280"/>
            <a:ext cx="5577840" cy="868680"/>
          </a:xfrm>
          <a:prstGeom prst="rect">
            <a:avLst/>
          </a:prstGeom>
          <a:solidFill>
            <a:srgbClr val="0D192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3640" y="228600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BADC"/>
                </a:solidFill>
              </a:rPr>
              <a:t>"Liste os 10 municípios com mais casos de SRAG"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6974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D8C0"/>
                </a:solidFill>
              </a:rPr>
              <a:t>→ São Paulo (8.582), Campinas (3.284), SJ Rio Preto (2.471)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657600"/>
            <a:ext cx="5577840" cy="868680"/>
          </a:xfrm>
          <a:prstGeom prst="rect">
            <a:avLst/>
          </a:prstGeom>
          <a:solidFill>
            <a:srgbClr val="0D192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63640" y="370332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BADC"/>
                </a:solidFill>
              </a:rPr>
              <a:t>"Taxa por 10 mil habitantes no período mais recente"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411480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D8C0"/>
                </a:solidFill>
              </a:rPr>
              <a:t>→ Barueri (0,03), Ribeirão Preto (0,02), São Paulo (0,0008)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26480" y="5074920"/>
            <a:ext cx="5577840" cy="868680"/>
          </a:xfrm>
          <a:prstGeom prst="rect">
            <a:avLst/>
          </a:prstGeom>
          <a:solidFill>
            <a:srgbClr val="0D192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63640" y="512064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BADC"/>
                </a:solidFill>
              </a:rPr>
              <a:t>"Maior pressão assistencial (casos/leitos SUS)"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55321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D8C0"/>
                </a:solidFill>
              </a:rPr>
              <a:t>→ Barueri (0,0004), Ribeirão Preto (0,0003), São Paulo (0,0001)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172200" y="64008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9A"/>
                </a:solidFill>
              </a:rPr>
              <a:t>SQL gerado pelo modelo revisado manualmente antes de cada execução.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C7A9A"/>
                </a:solidFill>
              </a:rPr>
              <a:t>Link do painel: &lt; a ser inserido &gt;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0"/>
            <a:ext cx="1188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  O QUE A BANCADA PRECISA SABER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88952" cy="548640"/>
          </a:xfrm>
          <a:prstGeom prst="rect">
            <a:avLst/>
          </a:prstGeom>
          <a:solidFill>
            <a:srgbClr val="2D6A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777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Dificuldades reais — e o que elas nos ensinaram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56235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737360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1755648"/>
            <a:ext cx="1188720" cy="301752"/>
          </a:xfrm>
          <a:prstGeom prst="roundRect">
            <a:avLst>
              <a:gd name="adj" fmla="val 15152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75564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Contornado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7373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9573F"/>
                </a:solidFill>
              </a:rPr>
              <a:t>Random Forest: modelo treinado, desempenho abaixo do esperado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" y="2350008"/>
            <a:ext cx="5212080" cy="22860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" y="2414016"/>
            <a:ext cx="5230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</a:rPr>
              <a:t>Com apenas 2 temporadas de dados (2024-2025), o RF não generalizou: lift de 0,8× — </a:t>
            </a:r>
            <a:r>
              <a:rPr lang="en-US" sz="1000" dirty="0" err="1">
                <a:solidFill>
                  <a:srgbClr val="000000"/>
                </a:solidFill>
              </a:rPr>
              <a:t>pior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que</a:t>
            </a:r>
            <a:r>
              <a:rPr lang="en-US" sz="1000" dirty="0">
                <a:solidFill>
                  <a:srgbClr val="000000"/>
                </a:solidFill>
              </a:rPr>
              <a:t> o </a:t>
            </a:r>
            <a:r>
              <a:rPr lang="en-US" sz="1000" dirty="0" err="1">
                <a:solidFill>
                  <a:srgbClr val="000000"/>
                </a:solidFill>
              </a:rPr>
              <a:t>acaso</a:t>
            </a:r>
            <a:r>
              <a:rPr lang="en-US" sz="1000" dirty="0">
                <a:solidFill>
                  <a:srgbClr val="000000"/>
                </a:solidFill>
              </a:rPr>
              <a:t>. </a:t>
            </a:r>
            <a:r>
              <a:rPr lang="en-US" sz="1000" dirty="0" err="1">
                <a:solidFill>
                  <a:srgbClr val="000000"/>
                </a:solidFill>
              </a:rPr>
              <a:t>Pensamos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em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substituir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pelo</a:t>
            </a:r>
            <a:r>
              <a:rPr lang="en-US" sz="1000" dirty="0">
                <a:solidFill>
                  <a:srgbClr val="000000"/>
                </a:solidFill>
              </a:rPr>
              <a:t> Holt-Winters, </a:t>
            </a:r>
            <a:r>
              <a:rPr lang="en-US" sz="1000" dirty="0" err="1">
                <a:solidFill>
                  <a:srgbClr val="000000"/>
                </a:solidFill>
              </a:rPr>
              <a:t>que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funciona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bem</a:t>
            </a:r>
            <a:r>
              <a:rPr lang="en-US" sz="1000" dirty="0">
                <a:solidFill>
                  <a:srgbClr val="000000"/>
                </a:solidFill>
              </a:rPr>
              <a:t> com </a:t>
            </a:r>
            <a:r>
              <a:rPr lang="en-US" sz="1000" dirty="0" err="1">
                <a:solidFill>
                  <a:srgbClr val="000000"/>
                </a:solidFill>
              </a:rPr>
              <a:t>séries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curtas</a:t>
            </a:r>
            <a:r>
              <a:rPr lang="en-US" sz="1000" dirty="0">
                <a:solidFill>
                  <a:srgbClr val="000000"/>
                </a:solidFill>
              </a:rPr>
              <a:t> e </a:t>
            </a:r>
            <a:r>
              <a:rPr lang="en-US" sz="1000" dirty="0" err="1">
                <a:solidFill>
                  <a:srgbClr val="000000"/>
                </a:solidFill>
              </a:rPr>
              <a:t>gerariaprevisões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coerentes</a:t>
            </a:r>
            <a:r>
              <a:rPr lang="en-US" sz="1000" dirty="0">
                <a:solidFill>
                  <a:srgbClr val="000000"/>
                </a:solidFill>
              </a:rPr>
              <a:t>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1572768"/>
            <a:ext cx="56235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737360"/>
            <a:ext cx="411480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835640" y="1755648"/>
            <a:ext cx="1188720" cy="301752"/>
          </a:xfrm>
          <a:prstGeom prst="roundRect">
            <a:avLst>
              <a:gd name="adj" fmla="val 15152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835640" y="175564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Contornado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6949440" y="17373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2994A"/>
                </a:solidFill>
              </a:rPr>
              <a:t>OCI Model Catalog: registro do modelo bloqueado por IAM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28232" y="2350008"/>
            <a:ext cx="5212080" cy="22860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28232" y="2414016"/>
            <a:ext cx="5230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A VM (Instance Principal) não tem acesso ao bucket de conda packs de serviço da Oracle — restrito a Notebook Sessions. O treino, as métricas e as previsões funcionam normalmente; só o versionamento formal ficou pendente.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0040" y="3950208"/>
            <a:ext cx="56235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4114800"/>
            <a:ext cx="411480" cy="4114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892040" y="4133088"/>
            <a:ext cx="1101852" cy="301752"/>
          </a:xfrm>
          <a:prstGeom prst="roundRect">
            <a:avLst>
              <a:gd name="adj" fmla="val 1515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892040" y="4133088"/>
            <a:ext cx="11018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Resolvido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" y="41148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2994A"/>
                </a:solidFill>
              </a:rPr>
              <a:t>Sobreposição entre datasets 2024 e 2025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84632" y="4727448"/>
            <a:ext cx="5212080" cy="22860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84632" y="4791456"/>
            <a:ext cx="5230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As 27 semanas sobrepostas entre os dois arquivos tinham valores divergentes (revisões retroativas). Solução: agrupar por (município, semana) e tomar o máximo — preservando a versão mais atualizada de cada registro.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263640" y="3950208"/>
            <a:ext cx="56235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114800"/>
            <a:ext cx="411480" cy="4114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835640" y="4133088"/>
            <a:ext cx="1101852" cy="301752"/>
          </a:xfrm>
          <a:prstGeom prst="roundRect">
            <a:avLst>
              <a:gd name="adj" fmla="val 1515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0835640" y="4133088"/>
            <a:ext cx="11018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Resolvido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6949440" y="41148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Normalização de nome de município entre 4 fontes públicas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428232" y="4727448"/>
            <a:ext cx="5212080" cy="22860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6428232" y="4791456"/>
            <a:ext cx="5230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SIVEP-Gripe, CNES, IBGE e INMET usam grafias diferentes ("MOJI MIRIM" vs "MOGI MIRIM"). Implementamos dicionário de alias + normalização Unicode para garantir 645/645 municípios casados corretamente.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365760" y="6437376"/>
            <a:ext cx="1170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</a:rPr>
              <a:t>"Erramos, aprendemos e entregamos. Cada obstáculo acima está documentado, rastreável e virou decisão de engenharia — não bug sem dono."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0"/>
            <a:ext cx="1188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7.  CONCLUSÃO E PRÓXIMOS PASSOS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88952" cy="548640"/>
          </a:xfrm>
          <a:prstGeom prst="rect">
            <a:avLst/>
          </a:prstGeom>
          <a:solidFill>
            <a:srgbClr val="2D6A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777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 que entregamos — e o que vem a seguir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2D2D"/>
                </a:solidFill>
              </a:rPr>
              <a:t>ATENÇÃO!  Entrega obrigatória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53949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1907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05840" y="1737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Resultados obtidos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2240280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✔  Pipeline Airflow: 5 tasks executadas com sucesso no OCI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724912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✔  645 municípios · 106 semanas · 104.412 casos consolidados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3209544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✔  3 consultas Select AI SHOWSQL validadas no Oracle ADB 26ai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3694176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✔  Modelo Holt-Winters: IC 95% + canal endêmico implementados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4178808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✔  Dashboard interativo com mapa 2024/2025/2026 preditivo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4663440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✔  Lag Analysis confirmou correlação clima→UTI (r = –0,42)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1554480"/>
            <a:ext cx="5897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19072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62940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994A"/>
                </a:solidFill>
              </a:rPr>
              <a:t>Aprendizado-chave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172200" y="214884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Código IBGE é mais robusto que nome de município. Granularidade semanal equilibra confiabilidade estatística e tempo de reação. Menos de 2 temporadas não é suficiente para treinar Random Forest — precisamos de mais dados históricos.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989320" y="3886200"/>
            <a:ext cx="5897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005072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62940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C4"/>
                </a:solidFill>
              </a:rPr>
              <a:t>Próximos passos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172200" y="4462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→  Coletar 2+ anos adicionais de dados para revalidar o RF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6172200" y="4855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→  DAG de ingestão externa automatizada por fonte (INMET diário)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6172200" y="5248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→  Painel Oracle APEX com Select AI para o CROS-SP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6172200" y="564184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→  Expandir para outros estados além de SP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365760" y="6437376"/>
            <a:ext cx="1170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Link do Vídeo Pitch: &lt; inserir aqui &gt;   |   DataSquad · Turma 1TSCPF · FIAP + Oracle Challenge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0"/>
            <a:ext cx="1188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  LINK DO VÍDEO PITCH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88952" cy="548640"/>
          </a:xfrm>
          <a:prstGeom prst="rect">
            <a:avLst/>
          </a:prstGeom>
          <a:solidFill>
            <a:srgbClr val="2D6A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777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Apresentação hands-on do VigiAr em funcionamento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2D2D"/>
                </a:solidFill>
              </a:rPr>
              <a:t>ATENÇÃO!  Entrega obrigatória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11567160" cy="1005840"/>
          </a:xfrm>
          <a:prstGeom prst="rect">
            <a:avLst/>
          </a:prstGeom>
          <a:solidFill>
            <a:srgbClr val="0B1F4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97280" y="153619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Link do vídeo pitch (YouTube / Google Drive / OneDrive):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9385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  <a:hlinkClick r:id="rId4"/>
              </a:rPr>
              <a:t>https://youtu.be/jEOOi8DStbE</a:t>
            </a:r>
            <a:endParaRPr lang="pt-BR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4EF"/>
            </a:solidFill>
            <a:prstDash val="solid"/>
          </a:ln>
        </p:spPr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20DEC3EB-AF46-8837-2E45-968F43D23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26" y="2987040"/>
            <a:ext cx="3556588" cy="28448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0D2DBDF-BD57-D0FB-4F74-797B4FA96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676" y="2987040"/>
            <a:ext cx="3445208" cy="283464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D0178375-F71B-0505-9588-2EAF46BE52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633" y="3237548"/>
            <a:ext cx="4184015" cy="23437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D09DF-6C15-AB96-7098-94C03E04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D676F2-BF10-DF56-32E3-C9B426E51F34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1F4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F70B52-1765-0B9B-8D66-31E9A55FAD5F}"/>
              </a:ext>
            </a:extLst>
          </p:cNvPr>
          <p:cNvSpPr txBox="1"/>
          <p:nvPr/>
        </p:nvSpPr>
        <p:spPr>
          <a:xfrm>
            <a:off x="320040" y="0"/>
            <a:ext cx="1188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ea typeface="Calibri"/>
                <a:cs typeface="Calibri"/>
              </a:rPr>
              <a:t>9.</a:t>
            </a:r>
            <a:r>
              <a:rPr lang="en-US" sz="1400" b="1" dirty="0">
                <a:solidFill>
                  <a:srgbClr val="FFFFFF"/>
                </a:solidFill>
                <a:ea typeface="Calibri"/>
                <a:cs typeface="Calibri"/>
              </a:rPr>
              <a:t>Apresentação hands-on do </a:t>
            </a:r>
            <a:r>
              <a:rPr lang="en-US" sz="1400" b="1" dirty="0" err="1">
                <a:solidFill>
                  <a:srgbClr val="FFFFFF"/>
                </a:solidFill>
                <a:ea typeface="Calibri"/>
                <a:cs typeface="Calibri"/>
              </a:rPr>
              <a:t>VigiAr</a:t>
            </a:r>
            <a:r>
              <a:rPr lang="en-US" sz="1400" b="1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Calibri"/>
                <a:cs typeface="Calibri"/>
              </a:rPr>
              <a:t>em</a:t>
            </a:r>
            <a:r>
              <a:rPr lang="en-US" sz="1400" b="1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Calibri"/>
                <a:cs typeface="Calibri"/>
              </a:rPr>
              <a:t>funcionamento</a:t>
            </a:r>
            <a:endParaRPr lang="en-US" sz="1400" dirty="0" err="1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F9F7504-8312-BF01-3B85-56644E9CD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82" y="1065848"/>
            <a:ext cx="4679315" cy="236918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EB2DC2A-AADB-4BD3-95A1-A4B09F72E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146" y="1280160"/>
            <a:ext cx="5046988" cy="489712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C125D73-5348-52C2-1444-48ECB3E5F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05" y="3639503"/>
            <a:ext cx="4217670" cy="298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36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VigiAr – Solução Final</dc:title>
  <dc:subject>PptxGenJS Presentation</dc:subject>
  <dc:creator>DataSquad</dc:creator>
  <cp:lastModifiedBy>DataSquad</cp:lastModifiedBy>
  <cp:revision>47</cp:revision>
  <dcterms:created xsi:type="dcterms:W3CDTF">2026-09-14T02:46:08Z</dcterms:created>
  <dcterms:modified xsi:type="dcterms:W3CDTF">2026-09-14T19:20:39Z</dcterms:modified>
</cp:coreProperties>
</file>