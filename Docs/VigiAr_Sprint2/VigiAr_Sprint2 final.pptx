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301" r:id="rId5"/>
    <p:sldId id="306" r:id="rId6"/>
    <p:sldId id="270" r:id="rId7"/>
    <p:sldId id="272" r:id="rId8"/>
    <p:sldId id="295" r:id="rId9"/>
    <p:sldId id="296" r:id="rId10"/>
    <p:sldId id="299" r:id="rId11"/>
    <p:sldId id="263" r:id="rId12"/>
    <p:sldId id="300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161"/>
    <a:srgbClr val="DC2626"/>
    <a:srgbClr val="FF9393"/>
    <a:srgbClr val="0D9488"/>
    <a:srgbClr val="9CF6ED"/>
    <a:srgbClr val="000000"/>
    <a:srgbClr val="719CDD"/>
    <a:srgbClr val="76A9F7"/>
    <a:srgbClr val="C7DCFC"/>
    <a:srgbClr val="C1A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57B9A-6894-302D-3ECC-C71C791CB81D}" v="263" dt="2026-05-18T03:59:28.302"/>
    <p1510:client id="{95F604B0-5032-4BF0-8DEB-CCF2877A7B8A}" v="49" dt="2026-05-18T15:20:24.186"/>
    <p1510:client id="{E954D274-4CA2-40C4-94CA-C9E5DE692E38}" v="496" dt="2026-05-18T14:49:25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38" autoAdjust="0"/>
    <p:restoredTop sz="94660"/>
  </p:normalViewPr>
  <p:slideViewPr>
    <p:cSldViewPr snapToGrid="0">
      <p:cViewPr>
        <p:scale>
          <a:sx n="190" d="100"/>
          <a:sy n="190" d="100"/>
        </p:scale>
        <p:origin x="421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AF0D8-4759-45DF-9A5D-45F237DC19E4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DFCD3-B488-40EA-AFC1-E8D8903500D9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493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C3FCD391-BF34-4564-799A-180DC4D8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9EA1B8A-352D-FD1E-FB94-EC9A079E0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983" y="1561320"/>
            <a:ext cx="1192742" cy="34925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B2401A0-94E7-E960-CC67-175098EE4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4947" y="2065857"/>
            <a:ext cx="5374106" cy="62076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AEF10B3-E5A9-9BC3-7588-47EF51537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855" y="2917909"/>
            <a:ext cx="3158290" cy="44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92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G"/>
          <p:cNvSpPr>
            <a:spLocks noGrp="1"/>
          </p:cNvSpPr>
          <p:nvPr/>
        </p:nvSpPr>
        <p:spPr>
          <a:xfrm>
            <a:off x="0" y="0"/>
            <a:ext cx="6858000" cy="3861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RPanel"/>
          <p:cNvSpPr>
            <a:spLocks noGrp="1"/>
          </p:cNvSpPr>
          <p:nvPr/>
        </p:nvSpPr>
        <p:spPr>
          <a:xfrm>
            <a:off x="6206063" y="0"/>
            <a:ext cx="2895075" cy="5142112"/>
          </a:xfrm>
          <a:prstGeom prst="rect">
            <a:avLst/>
          </a:prstGeom>
          <a:gradFill>
            <a:gsLst>
              <a:gs pos="0">
                <a:srgbClr val="0B1628"/>
              </a:gs>
              <a:gs pos="100000">
                <a:srgbClr val="0D2A48"/>
              </a:gs>
            </a:gsLst>
            <a:lin ang="10800000" scaled="0"/>
          </a:gra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BigCircle"/>
          <p:cNvSpPr>
            <a:spLocks noGrp="1"/>
          </p:cNvSpPr>
          <p:nvPr/>
        </p:nvSpPr>
        <p:spPr>
          <a:xfrm>
            <a:off x="7191075" y="-419100"/>
            <a:ext cx="2667000" cy="2667000"/>
          </a:xfrm>
          <a:prstGeom prst="ellipse">
            <a:avLst/>
          </a:prstGeom>
          <a:solidFill>
            <a:srgbClr val="22D3EE">
              <a:alpha val="8000"/>
            </a:srgbClr>
          </a:solidFill>
          <a:ln w="19050">
            <a:solidFill>
              <a:srgbClr val="22D3EE">
                <a:alpha val="2000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3" name="SmCircle"/>
          <p:cNvSpPr>
            <a:spLocks noGrp="1"/>
          </p:cNvSpPr>
          <p:nvPr/>
        </p:nvSpPr>
        <p:spPr>
          <a:xfrm>
            <a:off x="8334375" y="4152900"/>
            <a:ext cx="1333500" cy="13335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8000"/>
              </a:srgbClr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4" name="LeftBar"/>
          <p:cNvSpPr>
            <a:spLocks noGrp="1"/>
          </p:cNvSpPr>
          <p:nvPr/>
        </p:nvSpPr>
        <p:spPr>
          <a:xfrm>
            <a:off x="0" y="561976"/>
            <a:ext cx="204788" cy="4580137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0284C7"/>
              </a:gs>
              <a:gs pos="100000">
                <a:srgbClr val="0B1628"/>
              </a:gs>
            </a:gsLst>
            <a:lin ang="16200000" scaled="0"/>
          </a:gra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Badge"/>
          <p:cNvSpPr>
            <a:spLocks noGrp="1"/>
          </p:cNvSpPr>
          <p:nvPr/>
        </p:nvSpPr>
        <p:spPr>
          <a:xfrm>
            <a:off x="285750" y="195263"/>
            <a:ext cx="1028700" cy="190500"/>
          </a:xfrm>
          <a:prstGeom prst="roundRect">
            <a:avLst>
              <a:gd name="adj" fmla="val 25000"/>
            </a:avLst>
          </a:prstGeom>
          <a:solidFill>
            <a:srgbClr val="22D3EE">
              <a:alpha val="15000"/>
            </a:srgbClr>
          </a:solidFill>
          <a:ln w="9525">
            <a:solidFill>
              <a:srgbClr val="22D3EE">
                <a:alpha val="50000"/>
              </a:srgbClr>
            </a:solidFill>
          </a:ln>
        </p:spPr>
        <p:txBody>
          <a:bodyPr lIns="0" tIns="0" rIns="0" bIns="0" anchor="ctr" anchorCtr="1"/>
          <a:lstStyle/>
          <a:p>
            <a:pPr marL="0" indent="0" algn="ctr">
              <a:buNone/>
            </a:pPr>
            <a:r>
              <a:rPr lang="en-US" sz="900" b="1" spc="300">
                <a:solidFill>
                  <a:srgbClr val="22D3EE"/>
                </a:solidFill>
                <a:latin typeface="Calibri"/>
              </a:rPr>
              <a:t>SPRINT 2</a:t>
            </a:r>
            <a:endParaRPr lang="pt-BR"/>
          </a:p>
        </p:txBody>
      </p:sp>
      <p:sp>
        <p:nvSpPr>
          <p:cNvPr id="56" name="Title"/>
          <p:cNvSpPr>
            <a:spLocks noGrp="1"/>
          </p:cNvSpPr>
          <p:nvPr/>
        </p:nvSpPr>
        <p:spPr>
          <a:xfrm>
            <a:off x="200025" y="290513"/>
            <a:ext cx="3600450" cy="952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/>
          </a:p>
          <a:p>
            <a:pPr marL="0" indent="0">
              <a:buNone/>
            </a:pPr>
            <a:r>
              <a:rPr lang="en-US" sz="7200" b="1" spc="-50" dirty="0">
                <a:solidFill>
                  <a:srgbClr val="FFFFFF"/>
                </a:solidFill>
                <a:latin typeface="Calibri"/>
              </a:rPr>
              <a:t>VigiAr</a:t>
            </a:r>
          </a:p>
        </p:txBody>
      </p:sp>
      <p:sp>
        <p:nvSpPr>
          <p:cNvPr id="57" name="Subtitle"/>
          <p:cNvSpPr>
            <a:spLocks noGrp="1"/>
          </p:cNvSpPr>
          <p:nvPr/>
        </p:nvSpPr>
        <p:spPr>
          <a:xfrm>
            <a:off x="285750" y="1561800"/>
            <a:ext cx="4452937" cy="476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/>
          </a:p>
          <a:p>
            <a:pPr marL="0" indent="0">
              <a:buNone/>
            </a:pPr>
            <a:r>
              <a:rPr lang="pt-BR" sz="1900" spc="30" dirty="0">
                <a:solidFill>
                  <a:srgbClr val="22D3EE"/>
                </a:solidFill>
                <a:latin typeface="Calibri"/>
              </a:rPr>
              <a:t>Gestão Inteligente de Crises Respiratórias</a:t>
            </a:r>
          </a:p>
        </p:txBody>
      </p:sp>
      <p:sp>
        <p:nvSpPr>
          <p:cNvPr id="58" name="Rule"/>
          <p:cNvSpPr>
            <a:spLocks noGrp="1"/>
          </p:cNvSpPr>
          <p:nvPr/>
        </p:nvSpPr>
        <p:spPr>
          <a:xfrm>
            <a:off x="285750" y="2085975"/>
            <a:ext cx="3200400" cy="9525"/>
          </a:xfrm>
          <a:prstGeom prst="rect">
            <a:avLst/>
          </a:prstGeom>
          <a:solidFill>
            <a:srgbClr val="22D3EE">
              <a:alpha val="30000"/>
            </a:srgbClr>
          </a:solidFill>
          <a:ln>
            <a:noFill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Tags"/>
          <p:cNvSpPr>
            <a:spLocks noGrp="1"/>
          </p:cNvSpPr>
          <p:nvPr/>
        </p:nvSpPr>
        <p:spPr>
          <a:xfrm>
            <a:off x="285750" y="2171475"/>
            <a:ext cx="3619500" cy="266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/>
          </a:p>
          <a:p>
            <a:pPr marL="0" indent="0">
              <a:buNone/>
            </a:pPr>
            <a:r>
              <a:rPr lang="pt-BR" sz="1100" spc="100" dirty="0">
                <a:solidFill>
                  <a:srgbClr val="546E8A"/>
                </a:solidFill>
                <a:latin typeface="Calibri"/>
              </a:rPr>
              <a:t>Arquitetura · Tecnologias · Protótipos · Planejamento</a:t>
            </a:r>
          </a:p>
        </p:txBody>
      </p:sp>
      <p:sp>
        <p:nvSpPr>
          <p:cNvPr id="60" name="Members"/>
          <p:cNvSpPr>
            <a:spLocks noGrp="1"/>
          </p:cNvSpPr>
          <p:nvPr/>
        </p:nvSpPr>
        <p:spPr>
          <a:xfrm>
            <a:off x="285750" y="2667000"/>
            <a:ext cx="3619500" cy="10858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endParaRPr/>
          </a:p>
          <a:p>
            <a:pPr marL="0" indent="0">
              <a:spcAft>
                <a:spcPts val="350"/>
              </a:spcAft>
              <a:buNone/>
            </a:pPr>
            <a:r>
              <a:rPr lang="pt-BR" sz="950" b="1" spc="300" dirty="0">
                <a:solidFill>
                  <a:srgbClr val="22D3EE"/>
                </a:solidFill>
                <a:latin typeface="Calibri"/>
              </a:rPr>
              <a:t>INTEGRANTES</a:t>
            </a:r>
          </a:p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8AAEC9"/>
                </a:solidFill>
                <a:latin typeface="Calibri"/>
              </a:rPr>
              <a:t>Halen Zhang · RM 569733</a:t>
            </a:r>
            <a:endParaRPr lang="pt-BR" sz="1000" dirty="0">
              <a:solidFill>
                <a:srgbClr val="8AAEC9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8AAEC9"/>
                </a:solidFill>
                <a:latin typeface="Calibri"/>
              </a:rPr>
              <a:t>Igor Soares Silva · RM 569254</a:t>
            </a:r>
            <a:endParaRPr lang="pt-BR" sz="1000" dirty="0">
              <a:solidFill>
                <a:srgbClr val="8AAEC9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8AAEC9"/>
                </a:solidFill>
                <a:latin typeface="Calibri"/>
              </a:rPr>
              <a:t>João Marcos Borba R. Gonçalves · RM 571021</a:t>
            </a:r>
            <a:endParaRPr lang="pt-BR" sz="1000" dirty="0">
              <a:solidFill>
                <a:srgbClr val="8AAEC9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8AAEC9"/>
                </a:solidFill>
                <a:latin typeface="Calibri"/>
              </a:rPr>
              <a:t>João Ricardo </a:t>
            </a:r>
            <a:r>
              <a:rPr lang="pt-BR" sz="1000" dirty="0" err="1">
                <a:solidFill>
                  <a:srgbClr val="8AAEC9"/>
                </a:solidFill>
                <a:latin typeface="Calibri"/>
              </a:rPr>
              <a:t>Travaglin</a:t>
            </a:r>
            <a:r>
              <a:rPr lang="pt-BR" sz="1000" dirty="0">
                <a:solidFill>
                  <a:srgbClr val="8AAEC9"/>
                </a:solidFill>
                <a:latin typeface="Calibri"/>
              </a:rPr>
              <a:t> Abi Saber · RM 573129</a:t>
            </a:r>
            <a:endParaRPr lang="pt-BR" sz="1000" dirty="0">
              <a:solidFill>
                <a:srgbClr val="8AAEC9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pt-BR" sz="1000" dirty="0">
                <a:solidFill>
                  <a:srgbClr val="8AAEC9"/>
                </a:solidFill>
                <a:latin typeface="Calibri"/>
              </a:rPr>
              <a:t>Vitor Franco Benvenuto · RM 573286</a:t>
            </a:r>
            <a:endParaRPr lang="pt-BR" sz="1000" dirty="0">
              <a:solidFill>
                <a:srgbClr val="8AAEC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Footer"/>
          <p:cNvSpPr>
            <a:spLocks noGrp="1"/>
          </p:cNvSpPr>
          <p:nvPr/>
        </p:nvSpPr>
        <p:spPr>
          <a:xfrm>
            <a:off x="285750" y="4038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/>
          </a:p>
          <a:p>
            <a:pPr marL="0" indent="0">
              <a:buNone/>
            </a:pPr>
            <a:r>
              <a:rPr lang="pt-BR" sz="1000" spc="100" dirty="0">
                <a:solidFill>
                  <a:srgbClr val="3D5A7A"/>
                </a:solidFill>
                <a:latin typeface="Calibri"/>
              </a:rPr>
              <a:t>Data Squad · FIAP 2026</a:t>
            </a:r>
          </a:p>
        </p:txBody>
      </p:sp>
    </p:spTree>
    <p:extLst>
      <p:ext uri="{BB962C8B-B14F-4D97-AF65-F5344CB8AC3E}">
        <p14:creationId xmlns:p14="http://schemas.microsoft.com/office/powerpoint/2010/main" val="411986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17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Arquitetura</a:t>
            </a:r>
            <a: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7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Solução</a:t>
            </a:r>
            <a: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7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Visão</a:t>
            </a:r>
            <a: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do MVP</a:t>
            </a:r>
            <a:endParaRPr lang="en-US" sz="17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0972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MVP  ✓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1600200" y="86868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 </a:t>
            </a:r>
            <a:r>
              <a:rPr lang="en-US" sz="1000" dirty="0" err="1">
                <a:solidFill>
                  <a:srgbClr val="64748B"/>
                </a:solidFill>
              </a:rPr>
              <a:t>fluxo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abaixo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representa</a:t>
            </a:r>
            <a:r>
              <a:rPr lang="en-US" sz="1000" dirty="0">
                <a:solidFill>
                  <a:srgbClr val="64748B"/>
                </a:solidFill>
              </a:rPr>
              <a:t> o </a:t>
            </a:r>
            <a:r>
              <a:rPr lang="en-US" sz="1000" dirty="0" err="1">
                <a:solidFill>
                  <a:srgbClr val="64748B"/>
                </a:solidFill>
              </a:rPr>
              <a:t>núcleo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essencial</a:t>
            </a:r>
            <a:r>
              <a:rPr lang="en-US" sz="1000" dirty="0">
                <a:solidFill>
                  <a:srgbClr val="64748B"/>
                </a:solidFill>
              </a:rPr>
              <a:t> do </a:t>
            </a:r>
            <a:r>
              <a:rPr lang="en-US" sz="1000" dirty="0" err="1">
                <a:solidFill>
                  <a:srgbClr val="64748B"/>
                </a:solidFill>
              </a:rPr>
              <a:t>VigiAr</a:t>
            </a:r>
            <a:r>
              <a:rPr lang="en-US" sz="1000" dirty="0">
                <a:solidFill>
                  <a:srgbClr val="64748B"/>
                </a:solidFill>
              </a:rPr>
              <a:t> — da coleta </a:t>
            </a:r>
            <a:r>
              <a:rPr lang="en-US" sz="1000" dirty="0" err="1">
                <a:solidFill>
                  <a:srgbClr val="64748B"/>
                </a:solidFill>
              </a:rPr>
              <a:t>ao</a:t>
            </a:r>
            <a:r>
              <a:rPr lang="en-US" sz="1000" dirty="0">
                <a:solidFill>
                  <a:srgbClr val="64748B"/>
                </a:solidFill>
              </a:rPr>
              <a:t> gestor.</a:t>
            </a:r>
            <a:endParaRPr lang="en-US" sz="1000" dirty="0"/>
          </a:p>
        </p:txBody>
      </p:sp>
      <p:pic>
        <p:nvPicPr>
          <p:cNvPr id="42" name="Imagem 41" descr="Diagrama&#10;&#10;O conteúdo gerado por IA pode estar incorreto.">
            <a:extLst>
              <a:ext uri="{FF2B5EF4-FFF2-40B4-BE49-F238E27FC236}">
                <a16:creationId xmlns:a16="http://schemas.microsoft.com/office/drawing/2014/main" id="{927D6714-4A2B-9C98-4FF9-D150642F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6" y="1244600"/>
            <a:ext cx="5210006" cy="3025775"/>
          </a:xfrm>
          <a:prstGeom prst="rect">
            <a:avLst/>
          </a:prstGeom>
        </p:spPr>
      </p:pic>
      <p:sp>
        <p:nvSpPr>
          <p:cNvPr id="200" name="LC0"/>
          <p:cNvSpPr>
            <a:spLocks noGrp="1"/>
          </p:cNvSpPr>
          <p:nvPr/>
        </p:nvSpPr>
        <p:spPr>
          <a:xfrm>
            <a:off x="5245100" y="1244600"/>
            <a:ext cx="3848100" cy="1181607"/>
          </a:xfrm>
          <a:prstGeom prst="roundRect">
            <a:avLst>
              <a:gd name="adj" fmla="val 1668"/>
            </a:avLst>
          </a:prstGeom>
          <a:solidFill>
            <a:srgbClr val="FECACA"/>
          </a:solidFill>
          <a:ln w="12700">
            <a:solidFill>
              <a:srgbClr val="F46F6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LB0"/>
          <p:cNvSpPr>
            <a:spLocks noGrp="1"/>
          </p:cNvSpPr>
          <p:nvPr/>
        </p:nvSpPr>
        <p:spPr>
          <a:xfrm>
            <a:off x="5308600" y="1283207"/>
            <a:ext cx="203200" cy="203200"/>
          </a:xfrm>
          <a:prstGeom prst="ellipse">
            <a:avLst/>
          </a:prstGeom>
          <a:solidFill>
            <a:srgbClr val="F46F6F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2" name="LT0"/>
          <p:cNvSpPr>
            <a:spLocks noGrp="1"/>
          </p:cNvSpPr>
          <p:nvPr/>
        </p:nvSpPr>
        <p:spPr>
          <a:xfrm>
            <a:off x="8289399" y="1562034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F46F6F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CSV</a:t>
            </a:r>
          </a:p>
        </p:txBody>
      </p:sp>
      <p:sp>
        <p:nvSpPr>
          <p:cNvPr id="203" name="LTX0"/>
          <p:cNvSpPr>
            <a:spLocks noGrp="1"/>
          </p:cNvSpPr>
          <p:nvPr/>
        </p:nvSpPr>
        <p:spPr>
          <a:xfrm>
            <a:off x="5574239" y="1529174"/>
            <a:ext cx="2679700" cy="1956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F46F6F"/>
                </a:solidFill>
              </a:rPr>
              <a:t>PCDas SUS — SIH/SIVEP</a:t>
            </a:r>
            <a:r>
              <a:rPr lang="pt-BR" sz="560" dirty="0">
                <a:solidFill>
                  <a:srgbClr val="F46F6F"/>
                </a:solidFill>
              </a:rPr>
              <a:t>  </a:t>
            </a:r>
            <a:r>
              <a:rPr lang="pt-BR" sz="560" dirty="0"/>
              <a:t>Internações e notif. de SRAG padronizadas pela Fiocruz.</a:t>
            </a:r>
          </a:p>
        </p:txBody>
      </p:sp>
      <p:sp>
        <p:nvSpPr>
          <p:cNvPr id="206" name="LT1"/>
          <p:cNvSpPr>
            <a:spLocks noGrp="1"/>
          </p:cNvSpPr>
          <p:nvPr/>
        </p:nvSpPr>
        <p:spPr>
          <a:xfrm>
            <a:off x="8289399" y="1788159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F46F6F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JSON</a:t>
            </a:r>
          </a:p>
        </p:txBody>
      </p:sp>
      <p:sp>
        <p:nvSpPr>
          <p:cNvPr id="207" name="LTX1"/>
          <p:cNvSpPr>
            <a:spLocks noGrp="1"/>
          </p:cNvSpPr>
          <p:nvPr/>
        </p:nvSpPr>
        <p:spPr>
          <a:xfrm>
            <a:off x="5574239" y="1759457"/>
            <a:ext cx="2679700" cy="1956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F46F6F"/>
                </a:solidFill>
              </a:rPr>
              <a:t>PCDas SUS — CNES</a:t>
            </a:r>
            <a:r>
              <a:rPr lang="pt-BR" sz="560" dirty="0">
                <a:solidFill>
                  <a:srgbClr val="F46F6F"/>
                </a:solidFill>
              </a:rPr>
              <a:t>  </a:t>
            </a:r>
            <a:r>
              <a:rPr lang="pt-BR" sz="560" dirty="0"/>
              <a:t>Leitos disponíveis e equipes por estabelecimento.</a:t>
            </a:r>
          </a:p>
        </p:txBody>
      </p:sp>
      <p:sp>
        <p:nvSpPr>
          <p:cNvPr id="210" name="LT2"/>
          <p:cNvSpPr>
            <a:spLocks noGrp="1"/>
          </p:cNvSpPr>
          <p:nvPr/>
        </p:nvSpPr>
        <p:spPr>
          <a:xfrm>
            <a:off x="8289399" y="2013457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F46F6F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CSV</a:t>
            </a:r>
          </a:p>
        </p:txBody>
      </p:sp>
      <p:sp>
        <p:nvSpPr>
          <p:cNvPr id="211" name="LTX2"/>
          <p:cNvSpPr>
            <a:spLocks noGrp="1"/>
          </p:cNvSpPr>
          <p:nvPr/>
        </p:nvSpPr>
        <p:spPr>
          <a:xfrm>
            <a:off x="5574239" y="1994373"/>
            <a:ext cx="2679700" cy="179421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F46F6F"/>
                </a:solidFill>
              </a:rPr>
              <a:t>IBGE — População</a:t>
            </a:r>
            <a:r>
              <a:rPr lang="pt-BR" sz="560" dirty="0">
                <a:solidFill>
                  <a:srgbClr val="F46F6F"/>
                </a:solidFill>
              </a:rPr>
              <a:t>  </a:t>
            </a:r>
            <a:r>
              <a:rPr lang="pt-BR" sz="560" dirty="0"/>
              <a:t>Base populacional para normalizar taxas por habitante.</a:t>
            </a:r>
          </a:p>
        </p:txBody>
      </p:sp>
      <p:sp>
        <p:nvSpPr>
          <p:cNvPr id="212" name="LC3"/>
          <p:cNvSpPr>
            <a:spLocks noGrp="1"/>
          </p:cNvSpPr>
          <p:nvPr/>
        </p:nvSpPr>
        <p:spPr>
          <a:xfrm>
            <a:off x="5245100" y="3228325"/>
            <a:ext cx="3848100" cy="307561"/>
          </a:xfrm>
          <a:prstGeom prst="roundRect">
            <a:avLst>
              <a:gd name="adj" fmla="val 6508"/>
            </a:avLst>
          </a:prstGeom>
          <a:solidFill>
            <a:srgbClr val="FED7AA"/>
          </a:solidFill>
          <a:ln w="12700">
            <a:solidFill>
              <a:srgbClr val="FA8E3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3" name="LB3"/>
          <p:cNvSpPr>
            <a:spLocks noGrp="1"/>
          </p:cNvSpPr>
          <p:nvPr/>
        </p:nvSpPr>
        <p:spPr>
          <a:xfrm>
            <a:off x="5308600" y="3283887"/>
            <a:ext cx="203200" cy="203200"/>
          </a:xfrm>
          <a:prstGeom prst="ellipse">
            <a:avLst/>
          </a:prstGeom>
          <a:solidFill>
            <a:srgbClr val="FA8E3E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4" name="LT3"/>
          <p:cNvSpPr>
            <a:spLocks noGrp="1"/>
          </p:cNvSpPr>
          <p:nvPr/>
        </p:nvSpPr>
        <p:spPr>
          <a:xfrm>
            <a:off x="8289398" y="3320400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FA8E3E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OCI BUCKETS</a:t>
            </a:r>
          </a:p>
        </p:txBody>
      </p:sp>
      <p:sp>
        <p:nvSpPr>
          <p:cNvPr id="215" name="LTX3"/>
          <p:cNvSpPr>
            <a:spLocks noGrp="1"/>
          </p:cNvSpPr>
          <p:nvPr/>
        </p:nvSpPr>
        <p:spPr>
          <a:xfrm>
            <a:off x="5574239" y="3307700"/>
            <a:ext cx="2679700" cy="1651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FA8E3E"/>
                </a:solidFill>
              </a:rPr>
              <a:t>Object Storage</a:t>
            </a:r>
            <a:r>
              <a:rPr lang="pt-BR" sz="560" dirty="0">
                <a:solidFill>
                  <a:srgbClr val="FA8E3E"/>
                </a:solidFill>
              </a:rPr>
              <a:t>  </a:t>
            </a:r>
            <a:r>
              <a:rPr lang="pt-BR" sz="560" dirty="0"/>
              <a:t>Landing zone no Oracle Cloud — dados brutos armazenados.</a:t>
            </a:r>
          </a:p>
        </p:txBody>
      </p:sp>
      <p:sp>
        <p:nvSpPr>
          <p:cNvPr id="216" name="LC4"/>
          <p:cNvSpPr>
            <a:spLocks noGrp="1"/>
          </p:cNvSpPr>
          <p:nvPr/>
        </p:nvSpPr>
        <p:spPr>
          <a:xfrm>
            <a:off x="5245100" y="3599386"/>
            <a:ext cx="3848100" cy="295241"/>
          </a:xfrm>
          <a:prstGeom prst="roundRect">
            <a:avLst>
              <a:gd name="adj" fmla="val 8000"/>
            </a:avLst>
          </a:prstGeom>
          <a:solidFill>
            <a:srgbClr val="C7DCFC"/>
          </a:solidFill>
          <a:ln w="12700">
            <a:solidFill>
              <a:srgbClr val="719C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LB4"/>
          <p:cNvSpPr>
            <a:spLocks noGrp="1"/>
          </p:cNvSpPr>
          <p:nvPr/>
        </p:nvSpPr>
        <p:spPr>
          <a:xfrm>
            <a:off x="5286433" y="3645406"/>
            <a:ext cx="203200" cy="203200"/>
          </a:xfrm>
          <a:prstGeom prst="ellipse">
            <a:avLst/>
          </a:prstGeom>
          <a:solidFill>
            <a:srgbClr val="719CDD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8" name="LT4"/>
          <p:cNvSpPr>
            <a:spLocks noGrp="1"/>
          </p:cNvSpPr>
          <p:nvPr/>
        </p:nvSpPr>
        <p:spPr>
          <a:xfrm>
            <a:off x="8289397" y="3679137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76A9F7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PIPELINE</a:t>
            </a:r>
          </a:p>
        </p:txBody>
      </p:sp>
      <p:sp>
        <p:nvSpPr>
          <p:cNvPr id="219" name="LTX4"/>
          <p:cNvSpPr>
            <a:spLocks noGrp="1"/>
          </p:cNvSpPr>
          <p:nvPr/>
        </p:nvSpPr>
        <p:spPr>
          <a:xfrm>
            <a:off x="5574239" y="3657600"/>
            <a:ext cx="26797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719CDD"/>
                </a:solidFill>
              </a:rPr>
              <a:t>Python ETL</a:t>
            </a:r>
            <a:r>
              <a:rPr lang="pt-BR" sz="560" dirty="0">
                <a:solidFill>
                  <a:srgbClr val="719CDD"/>
                </a:solidFill>
              </a:rPr>
              <a:t>  </a:t>
            </a:r>
            <a:r>
              <a:rPr lang="pt-BR" sz="560" dirty="0"/>
              <a:t>Extração, Transformação e Carga — pcdas · pandas · python-oracledb.</a:t>
            </a:r>
          </a:p>
        </p:txBody>
      </p:sp>
      <p:sp>
        <p:nvSpPr>
          <p:cNvPr id="220" name="LC5"/>
          <p:cNvSpPr>
            <a:spLocks noGrp="1"/>
          </p:cNvSpPr>
          <p:nvPr/>
        </p:nvSpPr>
        <p:spPr>
          <a:xfrm>
            <a:off x="5245100" y="3950401"/>
            <a:ext cx="3848100" cy="278698"/>
          </a:xfrm>
          <a:prstGeom prst="roundRect">
            <a:avLst>
              <a:gd name="adj" fmla="val 8000"/>
            </a:avLst>
          </a:prstGeom>
          <a:solidFill>
            <a:srgbClr val="FF9393"/>
          </a:solidFill>
          <a:ln w="12700">
            <a:solidFill>
              <a:srgbClr val="DC262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1" name="LB5"/>
          <p:cNvSpPr>
            <a:spLocks noGrp="1"/>
          </p:cNvSpPr>
          <p:nvPr/>
        </p:nvSpPr>
        <p:spPr>
          <a:xfrm>
            <a:off x="5286433" y="3987800"/>
            <a:ext cx="203200" cy="203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2" name="LT5"/>
          <p:cNvSpPr>
            <a:spLocks noGrp="1"/>
          </p:cNvSpPr>
          <p:nvPr/>
        </p:nvSpPr>
        <p:spPr>
          <a:xfrm>
            <a:off x="8284899" y="4019550"/>
            <a:ext cx="753002" cy="139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RELATIONAL DB</a:t>
            </a:r>
          </a:p>
        </p:txBody>
      </p:sp>
      <p:sp>
        <p:nvSpPr>
          <p:cNvPr id="223" name="LTX5"/>
          <p:cNvSpPr>
            <a:spLocks noGrp="1"/>
          </p:cNvSpPr>
          <p:nvPr/>
        </p:nvSpPr>
        <p:spPr>
          <a:xfrm>
            <a:off x="5574239" y="4019550"/>
            <a:ext cx="2679700" cy="1397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DC2626"/>
                </a:solidFill>
              </a:rPr>
              <a:t>Oracle Database</a:t>
            </a:r>
            <a:r>
              <a:rPr lang="pt-BR" sz="560" dirty="0">
                <a:solidFill>
                  <a:srgbClr val="DC2626"/>
                </a:solidFill>
              </a:rPr>
              <a:t>  </a:t>
            </a:r>
            <a:r>
              <a:rPr lang="pt-BR" sz="560" dirty="0"/>
              <a:t>Banco relacional com dados tratados e prontos para consulta.</a:t>
            </a:r>
          </a:p>
        </p:txBody>
      </p:sp>
      <p:sp>
        <p:nvSpPr>
          <p:cNvPr id="224" name="LC6"/>
          <p:cNvSpPr>
            <a:spLocks noGrp="1"/>
          </p:cNvSpPr>
          <p:nvPr/>
        </p:nvSpPr>
        <p:spPr>
          <a:xfrm>
            <a:off x="50800" y="4318000"/>
            <a:ext cx="2933700" cy="698500"/>
          </a:xfrm>
          <a:prstGeom prst="roundRect">
            <a:avLst>
              <a:gd name="adj" fmla="val 8000"/>
            </a:avLst>
          </a:prstGeom>
          <a:solidFill>
            <a:srgbClr val="9CF6ED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5" name="LB6"/>
          <p:cNvSpPr>
            <a:spLocks noGrp="1"/>
          </p:cNvSpPr>
          <p:nvPr/>
        </p:nvSpPr>
        <p:spPr>
          <a:xfrm>
            <a:off x="114300" y="4565650"/>
            <a:ext cx="203200" cy="203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6" name="LT6"/>
          <p:cNvSpPr>
            <a:spLocks noGrp="1"/>
          </p:cNvSpPr>
          <p:nvPr/>
        </p:nvSpPr>
        <p:spPr>
          <a:xfrm>
            <a:off x="1892300" y="4368800"/>
            <a:ext cx="1041400" cy="1397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ML FORECAST</a:t>
            </a:r>
          </a:p>
        </p:txBody>
      </p:sp>
      <p:sp>
        <p:nvSpPr>
          <p:cNvPr id="227" name="LTX6"/>
          <p:cNvSpPr>
            <a:spLocks noGrp="1"/>
          </p:cNvSpPr>
          <p:nvPr/>
        </p:nvSpPr>
        <p:spPr>
          <a:xfrm>
            <a:off x="355600" y="4381500"/>
            <a:ext cx="17653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700" b="1" dirty="0">
                <a:solidFill>
                  <a:srgbClr val="0D9488"/>
                </a:solidFill>
              </a:rPr>
              <a:t>Prophet — ML Forecast</a:t>
            </a:r>
          </a:p>
          <a:p>
            <a:pPr>
              <a:buNone/>
            </a:pPr>
            <a:r>
              <a:rPr lang="pt-BR" sz="600" dirty="0"/>
              <a:t>Prevê demanda hospitalar com 4 semanas de antecedência.</a:t>
            </a:r>
          </a:p>
        </p:txBody>
      </p:sp>
      <p:sp>
        <p:nvSpPr>
          <p:cNvPr id="228" name="LC7"/>
          <p:cNvSpPr>
            <a:spLocks noGrp="1"/>
          </p:cNvSpPr>
          <p:nvPr/>
        </p:nvSpPr>
        <p:spPr>
          <a:xfrm>
            <a:off x="3035300" y="4318000"/>
            <a:ext cx="2933700" cy="698500"/>
          </a:xfrm>
          <a:prstGeom prst="roundRect">
            <a:avLst>
              <a:gd name="adj" fmla="val 8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9" name="LB7"/>
          <p:cNvSpPr>
            <a:spLocks noGrp="1"/>
          </p:cNvSpPr>
          <p:nvPr/>
        </p:nvSpPr>
        <p:spPr>
          <a:xfrm>
            <a:off x="3098800" y="4565650"/>
            <a:ext cx="203200" cy="203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0" name="LT7"/>
          <p:cNvSpPr>
            <a:spLocks noGrp="1"/>
          </p:cNvSpPr>
          <p:nvPr/>
        </p:nvSpPr>
        <p:spPr>
          <a:xfrm>
            <a:off x="4876800" y="4368800"/>
            <a:ext cx="1041400" cy="1397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USUÁRIO FINAL</a:t>
            </a:r>
          </a:p>
        </p:txBody>
      </p:sp>
      <p:sp>
        <p:nvSpPr>
          <p:cNvPr id="231" name="LTX7"/>
          <p:cNvSpPr>
            <a:spLocks noGrp="1"/>
          </p:cNvSpPr>
          <p:nvPr/>
        </p:nvSpPr>
        <p:spPr>
          <a:xfrm>
            <a:off x="3340100" y="4381500"/>
            <a:ext cx="17653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700" b="1" dirty="0">
                <a:solidFill>
                  <a:schemeClr val="bg1"/>
                </a:solidFill>
              </a:rPr>
              <a:t>Gestor CROSS/SP</a:t>
            </a:r>
          </a:p>
          <a:p>
            <a:pPr>
              <a:buNone/>
            </a:pPr>
            <a:r>
              <a:rPr lang="pt-BR" sz="600" dirty="0"/>
              <a:t>Alertas preditivos e insights para alocação antes do pico.</a:t>
            </a:r>
          </a:p>
        </p:txBody>
      </p:sp>
      <p:sp>
        <p:nvSpPr>
          <p:cNvPr id="232" name="LC8"/>
          <p:cNvSpPr>
            <a:spLocks noGrp="1"/>
          </p:cNvSpPr>
          <p:nvPr/>
        </p:nvSpPr>
        <p:spPr>
          <a:xfrm>
            <a:off x="6019800" y="4318000"/>
            <a:ext cx="2933700" cy="6985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C2410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3" name="LB8"/>
          <p:cNvSpPr>
            <a:spLocks noGrp="1"/>
          </p:cNvSpPr>
          <p:nvPr/>
        </p:nvSpPr>
        <p:spPr>
          <a:xfrm>
            <a:off x="6083300" y="4565650"/>
            <a:ext cx="203200" cy="2032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☁</a:t>
            </a:r>
          </a:p>
        </p:txBody>
      </p:sp>
      <p:sp>
        <p:nvSpPr>
          <p:cNvPr id="234" name="LT8"/>
          <p:cNvSpPr>
            <a:spLocks noGrp="1"/>
          </p:cNvSpPr>
          <p:nvPr/>
        </p:nvSpPr>
        <p:spPr>
          <a:xfrm>
            <a:off x="7861300" y="4368800"/>
            <a:ext cx="1041400" cy="139700"/>
          </a:xfrm>
          <a:prstGeom prst="roundRect">
            <a:avLst>
              <a:gd name="adj" fmla="val 50000"/>
            </a:avLst>
          </a:prstGeom>
          <a:solidFill>
            <a:srgbClr val="C2410C">
              <a:alpha val="18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rgbClr val="C2410C"/>
                </a:solidFill>
              </a:rPr>
              <a:t>INFRA</a:t>
            </a:r>
          </a:p>
        </p:txBody>
      </p:sp>
      <p:sp>
        <p:nvSpPr>
          <p:cNvPr id="235" name="LTX8"/>
          <p:cNvSpPr>
            <a:spLocks noGrp="1"/>
          </p:cNvSpPr>
          <p:nvPr/>
        </p:nvSpPr>
        <p:spPr>
          <a:xfrm>
            <a:off x="6324600" y="4381500"/>
            <a:ext cx="17653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700" b="1" dirty="0">
                <a:solidFill>
                  <a:srgbClr val="C2410C"/>
                </a:solidFill>
              </a:rPr>
              <a:t>Oracle Cloud</a:t>
            </a:r>
          </a:p>
          <a:p>
            <a:pPr>
              <a:buNone/>
            </a:pPr>
            <a:r>
              <a:rPr lang="pt-BR" sz="600" dirty="0"/>
              <a:t>Hospeda OCI Buckets, Oracle ADB e orquestração do pipeline.</a:t>
            </a:r>
          </a:p>
        </p:txBody>
      </p:sp>
      <p:sp>
        <p:nvSpPr>
          <p:cNvPr id="7" name="LTX2">
            <a:extLst>
              <a:ext uri="{FF2B5EF4-FFF2-40B4-BE49-F238E27FC236}">
                <a16:creationId xmlns:a16="http://schemas.microsoft.com/office/drawing/2014/main" id="{7A7133F9-76D7-77D7-13A7-4054CB0800A6}"/>
              </a:ext>
            </a:extLst>
          </p:cNvPr>
          <p:cNvSpPr>
            <a:spLocks noGrp="1"/>
          </p:cNvSpPr>
          <p:nvPr/>
        </p:nvSpPr>
        <p:spPr>
          <a:xfrm>
            <a:off x="5574239" y="2210307"/>
            <a:ext cx="26797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F46F6F"/>
                </a:solidFill>
              </a:rPr>
              <a:t>CLIMA — CETESB</a:t>
            </a:r>
            <a:r>
              <a:rPr lang="pt-BR" sz="560" dirty="0">
                <a:solidFill>
                  <a:srgbClr val="F46F6F"/>
                </a:solidFill>
              </a:rPr>
              <a:t>  </a:t>
            </a:r>
            <a:r>
              <a:rPr lang="pt-BR" sz="560" dirty="0"/>
              <a:t>Base populacional para normalizar taxas por habitante.</a:t>
            </a:r>
          </a:p>
        </p:txBody>
      </p:sp>
      <p:sp>
        <p:nvSpPr>
          <p:cNvPr id="8" name="LT2">
            <a:extLst>
              <a:ext uri="{FF2B5EF4-FFF2-40B4-BE49-F238E27FC236}">
                <a16:creationId xmlns:a16="http://schemas.microsoft.com/office/drawing/2014/main" id="{BBCD45CE-34D7-5233-0ACD-29435A6EC355}"/>
              </a:ext>
            </a:extLst>
          </p:cNvPr>
          <p:cNvSpPr>
            <a:spLocks noGrp="1"/>
          </p:cNvSpPr>
          <p:nvPr/>
        </p:nvSpPr>
        <p:spPr>
          <a:xfrm>
            <a:off x="8289399" y="2224180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F46F6F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CSV</a:t>
            </a:r>
          </a:p>
        </p:txBody>
      </p:sp>
      <p:sp>
        <p:nvSpPr>
          <p:cNvPr id="9" name="LTX0">
            <a:extLst>
              <a:ext uri="{FF2B5EF4-FFF2-40B4-BE49-F238E27FC236}">
                <a16:creationId xmlns:a16="http://schemas.microsoft.com/office/drawing/2014/main" id="{CF51E851-6E6F-2DA3-68E0-9CB8E94B6EF2}"/>
              </a:ext>
            </a:extLst>
          </p:cNvPr>
          <p:cNvSpPr>
            <a:spLocks noGrp="1"/>
          </p:cNvSpPr>
          <p:nvPr/>
        </p:nvSpPr>
        <p:spPr>
          <a:xfrm>
            <a:off x="5574239" y="1298321"/>
            <a:ext cx="2679700" cy="19564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900" b="1" dirty="0">
                <a:solidFill>
                  <a:srgbClr val="8E3131"/>
                </a:solidFill>
              </a:rPr>
              <a:t>Bases de dados</a:t>
            </a:r>
            <a:r>
              <a:rPr lang="pt-BR" sz="800" b="1" dirty="0">
                <a:solidFill>
                  <a:srgbClr val="8E3131"/>
                </a:solidFill>
              </a:rPr>
              <a:t>:</a:t>
            </a:r>
            <a:endParaRPr lang="pt-BR" sz="800" dirty="0">
              <a:solidFill>
                <a:srgbClr val="8E3131"/>
              </a:solidFill>
            </a:endParaRPr>
          </a:p>
        </p:txBody>
      </p:sp>
      <p:sp>
        <p:nvSpPr>
          <p:cNvPr id="10" name="LC3">
            <a:extLst>
              <a:ext uri="{FF2B5EF4-FFF2-40B4-BE49-F238E27FC236}">
                <a16:creationId xmlns:a16="http://schemas.microsoft.com/office/drawing/2014/main" id="{EC4C63A7-9B82-BB58-D9DD-D1B8C717B42D}"/>
              </a:ext>
            </a:extLst>
          </p:cNvPr>
          <p:cNvSpPr>
            <a:spLocks noGrp="1"/>
          </p:cNvSpPr>
          <p:nvPr/>
        </p:nvSpPr>
        <p:spPr>
          <a:xfrm>
            <a:off x="5245100" y="2480182"/>
            <a:ext cx="3848100" cy="307561"/>
          </a:xfrm>
          <a:prstGeom prst="roundRect">
            <a:avLst>
              <a:gd name="adj" fmla="val 6508"/>
            </a:avLst>
          </a:prstGeom>
          <a:solidFill>
            <a:srgbClr val="C7DCFC"/>
          </a:solidFill>
          <a:ln w="12700">
            <a:solidFill>
              <a:srgbClr val="719CD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LB3">
            <a:extLst>
              <a:ext uri="{FF2B5EF4-FFF2-40B4-BE49-F238E27FC236}">
                <a16:creationId xmlns:a16="http://schemas.microsoft.com/office/drawing/2014/main" id="{16151C49-5EBD-AD38-BD7F-FB94772F86DA}"/>
              </a:ext>
            </a:extLst>
          </p:cNvPr>
          <p:cNvSpPr>
            <a:spLocks noGrp="1"/>
          </p:cNvSpPr>
          <p:nvPr/>
        </p:nvSpPr>
        <p:spPr>
          <a:xfrm>
            <a:off x="5308600" y="2535744"/>
            <a:ext cx="203200" cy="203200"/>
          </a:xfrm>
          <a:prstGeom prst="ellipse">
            <a:avLst/>
          </a:prstGeom>
          <a:solidFill>
            <a:srgbClr val="719CDD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LT3">
            <a:extLst>
              <a:ext uri="{FF2B5EF4-FFF2-40B4-BE49-F238E27FC236}">
                <a16:creationId xmlns:a16="http://schemas.microsoft.com/office/drawing/2014/main" id="{1524E382-9DDB-1238-A6B9-8C6161A9257B}"/>
              </a:ext>
            </a:extLst>
          </p:cNvPr>
          <p:cNvSpPr>
            <a:spLocks noGrp="1"/>
          </p:cNvSpPr>
          <p:nvPr/>
        </p:nvSpPr>
        <p:spPr>
          <a:xfrm>
            <a:off x="8289398" y="2572257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76A9F7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EL (</a:t>
            </a:r>
            <a:r>
              <a:rPr lang="pt-BR" sz="430" b="1" dirty="0" err="1">
                <a:solidFill>
                  <a:schemeClr val="bg1"/>
                </a:solidFill>
              </a:rPr>
              <a:t>Extract</a:t>
            </a:r>
            <a:r>
              <a:rPr lang="pt-BR" sz="430" b="1" dirty="0">
                <a:solidFill>
                  <a:schemeClr val="bg1"/>
                </a:solidFill>
              </a:rPr>
              <a:t> + </a:t>
            </a:r>
            <a:r>
              <a:rPr lang="pt-BR" sz="430" b="1" dirty="0" err="1">
                <a:solidFill>
                  <a:schemeClr val="bg1"/>
                </a:solidFill>
              </a:rPr>
              <a:t>Load</a:t>
            </a:r>
            <a:r>
              <a:rPr lang="pt-BR" sz="43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LTX3">
            <a:extLst>
              <a:ext uri="{FF2B5EF4-FFF2-40B4-BE49-F238E27FC236}">
                <a16:creationId xmlns:a16="http://schemas.microsoft.com/office/drawing/2014/main" id="{C9FB1AE0-3634-31C2-835B-0C2CB25B6AE4}"/>
              </a:ext>
            </a:extLst>
          </p:cNvPr>
          <p:cNvSpPr>
            <a:spLocks noGrp="1"/>
          </p:cNvSpPr>
          <p:nvPr/>
        </p:nvSpPr>
        <p:spPr>
          <a:xfrm>
            <a:off x="5574239" y="2559557"/>
            <a:ext cx="2679700" cy="1651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719CDD"/>
                </a:solidFill>
              </a:rPr>
              <a:t>Conectores Python </a:t>
            </a:r>
            <a:r>
              <a:rPr lang="pt-BR" sz="560" dirty="0" err="1"/>
              <a:t>Python</a:t>
            </a:r>
            <a:r>
              <a:rPr lang="pt-BR" sz="560" dirty="0"/>
              <a:t> scripts automatizados — motor de extração do </a:t>
            </a:r>
            <a:r>
              <a:rPr lang="pt-BR" sz="560" dirty="0" err="1"/>
              <a:t>VigiAr</a:t>
            </a:r>
            <a:r>
              <a:rPr lang="pt-BR" sz="560" dirty="0"/>
              <a:t>.</a:t>
            </a:r>
          </a:p>
        </p:txBody>
      </p:sp>
      <p:sp>
        <p:nvSpPr>
          <p:cNvPr id="14" name="LC3">
            <a:extLst>
              <a:ext uri="{FF2B5EF4-FFF2-40B4-BE49-F238E27FC236}">
                <a16:creationId xmlns:a16="http://schemas.microsoft.com/office/drawing/2014/main" id="{02D661EA-B164-6270-A0B1-6748A66A97E9}"/>
              </a:ext>
            </a:extLst>
          </p:cNvPr>
          <p:cNvSpPr>
            <a:spLocks noGrp="1"/>
          </p:cNvSpPr>
          <p:nvPr/>
        </p:nvSpPr>
        <p:spPr>
          <a:xfrm>
            <a:off x="5245100" y="2852709"/>
            <a:ext cx="3848100" cy="307561"/>
          </a:xfrm>
          <a:prstGeom prst="roundRect">
            <a:avLst>
              <a:gd name="adj" fmla="val 6508"/>
            </a:avLst>
          </a:prstGeom>
          <a:solidFill>
            <a:srgbClr val="C1A4F6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LB3">
            <a:extLst>
              <a:ext uri="{FF2B5EF4-FFF2-40B4-BE49-F238E27FC236}">
                <a16:creationId xmlns:a16="http://schemas.microsoft.com/office/drawing/2014/main" id="{DD2E850D-E9EE-08AF-11D1-A6F39B2328CF}"/>
              </a:ext>
            </a:extLst>
          </p:cNvPr>
          <p:cNvSpPr>
            <a:spLocks noGrp="1"/>
          </p:cNvSpPr>
          <p:nvPr/>
        </p:nvSpPr>
        <p:spPr>
          <a:xfrm>
            <a:off x="5308600" y="2908271"/>
            <a:ext cx="203200" cy="203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LT3">
            <a:extLst>
              <a:ext uri="{FF2B5EF4-FFF2-40B4-BE49-F238E27FC236}">
                <a16:creationId xmlns:a16="http://schemas.microsoft.com/office/drawing/2014/main" id="{6A6C5EBE-3378-F508-4013-EB0C2A0B0020}"/>
              </a:ext>
            </a:extLst>
          </p:cNvPr>
          <p:cNvSpPr>
            <a:spLocks noGrp="1"/>
          </p:cNvSpPr>
          <p:nvPr/>
        </p:nvSpPr>
        <p:spPr>
          <a:xfrm>
            <a:off x="8289398" y="2944784"/>
            <a:ext cx="753001" cy="1397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30" b="1" dirty="0">
                <a:solidFill>
                  <a:schemeClr val="bg1"/>
                </a:solidFill>
              </a:rPr>
              <a:t>Orquestrador</a:t>
            </a:r>
          </a:p>
        </p:txBody>
      </p:sp>
      <p:sp>
        <p:nvSpPr>
          <p:cNvPr id="17" name="LTX3">
            <a:extLst>
              <a:ext uri="{FF2B5EF4-FFF2-40B4-BE49-F238E27FC236}">
                <a16:creationId xmlns:a16="http://schemas.microsoft.com/office/drawing/2014/main" id="{B1849173-7C73-195F-4971-4FB0317520C2}"/>
              </a:ext>
            </a:extLst>
          </p:cNvPr>
          <p:cNvSpPr>
            <a:spLocks noGrp="1"/>
          </p:cNvSpPr>
          <p:nvPr/>
        </p:nvSpPr>
        <p:spPr>
          <a:xfrm>
            <a:off x="5574239" y="2932084"/>
            <a:ext cx="2715158" cy="1651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>
              <a:buNone/>
            </a:pPr>
            <a:r>
              <a:rPr lang="pt-BR" sz="650" b="1" dirty="0">
                <a:solidFill>
                  <a:srgbClr val="7C3AED"/>
                </a:solidFill>
              </a:rPr>
              <a:t>OCI DI </a:t>
            </a:r>
            <a:r>
              <a:rPr lang="pt-BR" sz="560" b="1" dirty="0">
                <a:solidFill>
                  <a:srgbClr val="7C3AED"/>
                </a:solidFill>
              </a:rPr>
              <a:t> </a:t>
            </a:r>
            <a:r>
              <a:rPr lang="pt-BR" sz="560" dirty="0"/>
              <a:t>Orquestrador, automatizar o fluxo de extração dos dados para a Landing Zone.</a:t>
            </a:r>
          </a:p>
        </p:txBody>
      </p:sp>
    </p:spTree>
    <p:extLst>
      <p:ext uri="{BB962C8B-B14F-4D97-AF65-F5344CB8AC3E}">
        <p14:creationId xmlns:p14="http://schemas.microsoft.com/office/powerpoint/2010/main" val="328053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 err="1">
                <a:solidFill>
                  <a:srgbClr val="FFFFFF"/>
                </a:solidFill>
                <a:ea typeface="Calibri"/>
                <a:cs typeface="Calibri"/>
              </a:rPr>
              <a:t>Descricao</a:t>
            </a:r>
            <a:r>
              <a:rPr lang="en-US" sz="1700" b="1" dirty="0">
                <a:solidFill>
                  <a:srgbClr val="FFFFFF"/>
                </a:solidFill>
                <a:ea typeface="Calibri"/>
                <a:cs typeface="Calibri"/>
              </a:rPr>
              <a:t> da </a:t>
            </a:r>
            <a:r>
              <a:rPr lang="en-US" sz="1700" b="1" dirty="0" err="1">
                <a:solidFill>
                  <a:srgbClr val="FFFFFF"/>
                </a:solidFill>
                <a:ea typeface="Calibri"/>
                <a:cs typeface="Calibri"/>
              </a:rPr>
              <a:t>Arquitetura</a:t>
            </a:r>
            <a:r>
              <a:rPr lang="en-US" sz="1700" b="1" dirty="0">
                <a:solidFill>
                  <a:srgbClr val="FFFFFF"/>
                </a:solidFill>
                <a:ea typeface="Calibri"/>
                <a:cs typeface="Calibri"/>
              </a:rPr>
              <a:t> de </a:t>
            </a:r>
            <a:r>
              <a:rPr lang="en-US" sz="1700" b="1" dirty="0" err="1">
                <a:solidFill>
                  <a:srgbClr val="FFFFFF"/>
                </a:solidFill>
                <a:ea typeface="Calibri"/>
                <a:cs typeface="Calibri"/>
              </a:rPr>
              <a:t>Solucao</a:t>
            </a:r>
            <a:r>
              <a:rPr lang="en-US" sz="1700" b="1" dirty="0">
                <a:solidFill>
                  <a:srgbClr val="FFFFFF"/>
                </a:solidFill>
                <a:ea typeface="Calibri"/>
                <a:cs typeface="Calibri"/>
              </a:rPr>
              <a:t> </a:t>
            </a:r>
          </a:p>
        </p:txBody>
      </p:sp>
      <p:sp>
        <p:nvSpPr>
          <p:cNvPr id="300" name="Card0"/>
          <p:cNvSpPr>
            <a:spLocks noGrp="1"/>
          </p:cNvSpPr>
          <p:nvPr/>
        </p:nvSpPr>
        <p:spPr>
          <a:xfrm>
            <a:off x="177800" y="762000"/>
            <a:ext cx="2819400" cy="2120900"/>
          </a:xfrm>
          <a:prstGeom prst="roundRect">
            <a:avLst>
              <a:gd name="adj" fmla="val 4000"/>
            </a:avLst>
          </a:prstGeom>
          <a:solidFill>
            <a:srgbClr val="F0FFF4"/>
          </a:solidFill>
          <a:ln w="19050">
            <a:solidFill>
              <a:srgbClr val="FF616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Badge0"/>
          <p:cNvSpPr>
            <a:spLocks noGrp="1"/>
          </p:cNvSpPr>
          <p:nvPr/>
        </p:nvSpPr>
        <p:spPr>
          <a:xfrm>
            <a:off x="279400" y="876300"/>
            <a:ext cx="330200" cy="190500"/>
          </a:xfrm>
          <a:prstGeom prst="roundRect">
            <a:avLst>
              <a:gd name="adj" fmla="val 30000"/>
            </a:avLst>
          </a:prstGeom>
          <a:solidFill>
            <a:srgbClr val="FF6161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02" name="Title0"/>
          <p:cNvSpPr>
            <a:spLocks noGrp="1"/>
          </p:cNvSpPr>
          <p:nvPr/>
        </p:nvSpPr>
        <p:spPr>
          <a:xfrm>
            <a:off x="279400" y="11049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FF6161"/>
                </a:solidFill>
              </a:rPr>
              <a:t>Fontes de Dados Públicos</a:t>
            </a:r>
          </a:p>
        </p:txBody>
      </p:sp>
      <p:sp>
        <p:nvSpPr>
          <p:cNvPr id="303" name="Div0"/>
          <p:cNvSpPr>
            <a:spLocks noGrp="1"/>
          </p:cNvSpPr>
          <p:nvPr/>
        </p:nvSpPr>
        <p:spPr>
          <a:xfrm>
            <a:off x="279400" y="1397000"/>
            <a:ext cx="2616200" cy="25400"/>
          </a:xfrm>
          <a:prstGeom prst="rect">
            <a:avLst/>
          </a:prstGeom>
          <a:solidFill>
            <a:srgbClr val="FF6161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ub0"/>
          <p:cNvSpPr>
            <a:spLocks noGrp="1"/>
          </p:cNvSpPr>
          <p:nvPr/>
        </p:nvSpPr>
        <p:spPr>
          <a:xfrm>
            <a:off x="279400" y="14478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750" b="1" i="1" dirty="0">
                <a:solidFill>
                  <a:srgbClr val="FF6161">
                    <a:alpha val="75000"/>
                  </a:srgbClr>
                </a:solidFill>
              </a:rPr>
              <a:t>PCDas · CNES · IBGE · CETESB</a:t>
            </a:r>
          </a:p>
        </p:txBody>
      </p:sp>
      <p:sp>
        <p:nvSpPr>
          <p:cNvPr id="305" name="Body0"/>
          <p:cNvSpPr>
            <a:spLocks noGrp="1"/>
          </p:cNvSpPr>
          <p:nvPr/>
        </p:nvSpPr>
        <p:spPr>
          <a:xfrm>
            <a:off x="279400" y="1651000"/>
            <a:ext cx="2616200" cy="1130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750" dirty="0">
                <a:solidFill>
                  <a:srgbClr val="1E293B"/>
                </a:solidFill>
              </a:rPr>
              <a:t>A plataforma é alimentada por quatro fontes públicas — PCDas (SIH-SUS e SIVEP-Gripe), CNES, IBGE e CETESB. Cada uma conectada à nuvem por meio de conectores desenvolvidos em Python, fornecendo dados epidemiológicos, hospitalares, populacionais e climáticos.</a:t>
            </a:r>
          </a:p>
        </p:txBody>
      </p:sp>
      <p:sp>
        <p:nvSpPr>
          <p:cNvPr id="306" name="Card1"/>
          <p:cNvSpPr>
            <a:spLocks noGrp="1"/>
          </p:cNvSpPr>
          <p:nvPr/>
        </p:nvSpPr>
        <p:spPr>
          <a:xfrm>
            <a:off x="3086100" y="762000"/>
            <a:ext cx="2819400" cy="21209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9050">
            <a:solidFill>
              <a:srgbClr val="7030A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7" name="Badge1"/>
          <p:cNvSpPr>
            <a:spLocks noGrp="1"/>
          </p:cNvSpPr>
          <p:nvPr/>
        </p:nvSpPr>
        <p:spPr>
          <a:xfrm>
            <a:off x="3187700" y="876300"/>
            <a:ext cx="330200" cy="190500"/>
          </a:xfrm>
          <a:prstGeom prst="roundRect">
            <a:avLst>
              <a:gd name="adj" fmla="val 30000"/>
            </a:avLst>
          </a:prstGeom>
          <a:solidFill>
            <a:srgbClr val="7030A0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08" name="Title1"/>
          <p:cNvSpPr>
            <a:spLocks noGrp="1"/>
          </p:cNvSpPr>
          <p:nvPr/>
        </p:nvSpPr>
        <p:spPr>
          <a:xfrm>
            <a:off x="3187700" y="11049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7030A0"/>
                </a:solidFill>
              </a:rPr>
              <a:t>Conectores e Orquestração</a:t>
            </a:r>
          </a:p>
        </p:txBody>
      </p:sp>
      <p:sp>
        <p:nvSpPr>
          <p:cNvPr id="309" name="Div1"/>
          <p:cNvSpPr>
            <a:spLocks noGrp="1"/>
          </p:cNvSpPr>
          <p:nvPr/>
        </p:nvSpPr>
        <p:spPr>
          <a:xfrm>
            <a:off x="3187700" y="1397000"/>
            <a:ext cx="2616200" cy="254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ub1"/>
          <p:cNvSpPr>
            <a:spLocks noGrp="1"/>
          </p:cNvSpPr>
          <p:nvPr/>
        </p:nvSpPr>
        <p:spPr>
          <a:xfrm>
            <a:off x="3187700" y="14478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750" b="1" i="1" dirty="0">
                <a:solidFill>
                  <a:srgbClr val="7030A0">
                    <a:alpha val="75000"/>
                  </a:srgbClr>
                </a:solidFill>
              </a:rPr>
              <a:t>Python · OCI Data Integration</a:t>
            </a:r>
          </a:p>
        </p:txBody>
      </p:sp>
      <p:sp>
        <p:nvSpPr>
          <p:cNvPr id="311" name="Body1"/>
          <p:cNvSpPr>
            <a:spLocks noGrp="1"/>
          </p:cNvSpPr>
          <p:nvPr/>
        </p:nvSpPr>
        <p:spPr>
          <a:xfrm>
            <a:off x="3187700" y="1651000"/>
            <a:ext cx="2616200" cy="1130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750" dirty="0">
                <a:solidFill>
                  <a:srgbClr val="1E293B"/>
                </a:solidFill>
              </a:rPr>
              <a:t>Os conectores Python enviam os dados ao OCI Data Integration, que orquestra todo o fluxo garantindo que cada etapa aconteça na ordem correta — desde a ingestão até a entrega ao usuário final, com rastreabilidade completa.</a:t>
            </a:r>
          </a:p>
        </p:txBody>
      </p:sp>
      <p:sp>
        <p:nvSpPr>
          <p:cNvPr id="312" name="Card2"/>
          <p:cNvSpPr>
            <a:spLocks noGrp="1"/>
          </p:cNvSpPr>
          <p:nvPr/>
        </p:nvSpPr>
        <p:spPr>
          <a:xfrm>
            <a:off x="5994400" y="762000"/>
            <a:ext cx="2819400" cy="21209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3" name="Badge2"/>
          <p:cNvSpPr>
            <a:spLocks noGrp="1"/>
          </p:cNvSpPr>
          <p:nvPr/>
        </p:nvSpPr>
        <p:spPr>
          <a:xfrm>
            <a:off x="6096000" y="876300"/>
            <a:ext cx="330200" cy="1905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4" name="Title2"/>
          <p:cNvSpPr>
            <a:spLocks noGrp="1"/>
          </p:cNvSpPr>
          <p:nvPr/>
        </p:nvSpPr>
        <p:spPr>
          <a:xfrm>
            <a:off x="6096000" y="11049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F59E0B"/>
                </a:solidFill>
              </a:rPr>
              <a:t>OCI Bucket — Landing Zone</a:t>
            </a:r>
          </a:p>
        </p:txBody>
      </p:sp>
      <p:sp>
        <p:nvSpPr>
          <p:cNvPr id="315" name="Div2"/>
          <p:cNvSpPr>
            <a:spLocks noGrp="1"/>
          </p:cNvSpPr>
          <p:nvPr/>
        </p:nvSpPr>
        <p:spPr>
          <a:xfrm>
            <a:off x="6096000" y="1397000"/>
            <a:ext cx="2616200" cy="25400"/>
          </a:xfrm>
          <a:prstGeom prst="rect">
            <a:avLst/>
          </a:prstGeom>
          <a:solidFill>
            <a:srgbClr val="F59E0B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ub2"/>
          <p:cNvSpPr>
            <a:spLocks noGrp="1"/>
          </p:cNvSpPr>
          <p:nvPr/>
        </p:nvSpPr>
        <p:spPr>
          <a:xfrm>
            <a:off x="6096000" y="14478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750" b="1" i="1" dirty="0">
                <a:solidFill>
                  <a:srgbClr val="F59E0B">
                    <a:alpha val="75000"/>
                  </a:srgbClr>
                </a:solidFill>
              </a:rPr>
              <a:t>Data Lake · Repositório Raw</a:t>
            </a:r>
          </a:p>
        </p:txBody>
      </p:sp>
      <p:sp>
        <p:nvSpPr>
          <p:cNvPr id="317" name="Body2"/>
          <p:cNvSpPr>
            <a:spLocks noGrp="1"/>
          </p:cNvSpPr>
          <p:nvPr/>
        </p:nvSpPr>
        <p:spPr>
          <a:xfrm>
            <a:off x="6096000" y="1651000"/>
            <a:ext cx="2616200" cy="1130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750" dirty="0">
                <a:solidFill>
                  <a:srgbClr val="1E293B"/>
                </a:solidFill>
              </a:rPr>
              <a:t>Os dados brutos são armazenados no OCI Bucket, funcionando como repositório central antes de qualquer tratamento. Essa camada raw preserva os dados originais e serve de base para reprocessamento futuro se necessário.</a:t>
            </a:r>
          </a:p>
        </p:txBody>
      </p:sp>
      <p:sp>
        <p:nvSpPr>
          <p:cNvPr id="318" name="Card3"/>
          <p:cNvSpPr>
            <a:spLocks noGrp="1"/>
          </p:cNvSpPr>
          <p:nvPr/>
        </p:nvSpPr>
        <p:spPr>
          <a:xfrm>
            <a:off x="177800" y="2959100"/>
            <a:ext cx="2819400" cy="2120900"/>
          </a:xfrm>
          <a:prstGeom prst="roundRect">
            <a:avLst>
              <a:gd name="adj" fmla="val 4000"/>
            </a:avLst>
          </a:prstGeom>
          <a:solidFill>
            <a:srgbClr val="FFF5F5"/>
          </a:solidFill>
          <a:ln w="19050">
            <a:solidFill>
              <a:srgbClr val="DC262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9" name="Badge3"/>
          <p:cNvSpPr>
            <a:spLocks noGrp="1"/>
          </p:cNvSpPr>
          <p:nvPr/>
        </p:nvSpPr>
        <p:spPr>
          <a:xfrm>
            <a:off x="279400" y="3073400"/>
            <a:ext cx="330200" cy="1905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20" name="Title3"/>
          <p:cNvSpPr>
            <a:spLocks noGrp="1"/>
          </p:cNvSpPr>
          <p:nvPr/>
        </p:nvSpPr>
        <p:spPr>
          <a:xfrm>
            <a:off x="279400" y="33020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FF0000"/>
                </a:solidFill>
              </a:rPr>
              <a:t>ETL · Oracle Autonomous DB</a:t>
            </a:r>
          </a:p>
        </p:txBody>
      </p:sp>
      <p:sp>
        <p:nvSpPr>
          <p:cNvPr id="321" name="Div3"/>
          <p:cNvSpPr>
            <a:spLocks noGrp="1"/>
          </p:cNvSpPr>
          <p:nvPr/>
        </p:nvSpPr>
        <p:spPr>
          <a:xfrm>
            <a:off x="279400" y="3594100"/>
            <a:ext cx="2616200" cy="25400"/>
          </a:xfrm>
          <a:prstGeom prst="rect">
            <a:avLst/>
          </a:prstGeom>
          <a:solidFill>
            <a:srgbClr val="DC2626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ub3"/>
          <p:cNvSpPr>
            <a:spLocks noGrp="1"/>
          </p:cNvSpPr>
          <p:nvPr/>
        </p:nvSpPr>
        <p:spPr>
          <a:xfrm>
            <a:off x="279400" y="36449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750" b="1" i="1" dirty="0">
                <a:solidFill>
                  <a:srgbClr val="FF0000">
                    <a:alpha val="75000"/>
                  </a:srgbClr>
                </a:solidFill>
              </a:rPr>
              <a:t>Python · pandas · python-oracledb</a:t>
            </a:r>
          </a:p>
        </p:txBody>
      </p:sp>
      <p:sp>
        <p:nvSpPr>
          <p:cNvPr id="323" name="Body3"/>
          <p:cNvSpPr>
            <a:spLocks noGrp="1"/>
          </p:cNvSpPr>
          <p:nvPr/>
        </p:nvSpPr>
        <p:spPr>
          <a:xfrm>
            <a:off x="279400" y="3848100"/>
            <a:ext cx="2616200" cy="1130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750" dirty="0">
                <a:solidFill>
                  <a:srgbClr val="1E293B"/>
                </a:solidFill>
              </a:rPr>
              <a:t>Um processo ETL, também em Python, realiza a limpeza e a transformação necessárias, carregando os dados já organizados no Oracle Autonomous Database — banco de dados central da solução, com alta disponibilidade e segurança nativas.</a:t>
            </a:r>
          </a:p>
        </p:txBody>
      </p:sp>
      <p:sp>
        <p:nvSpPr>
          <p:cNvPr id="324" name="Card4"/>
          <p:cNvSpPr>
            <a:spLocks noGrp="1"/>
          </p:cNvSpPr>
          <p:nvPr/>
        </p:nvSpPr>
        <p:spPr>
          <a:xfrm>
            <a:off x="3086100" y="2959100"/>
            <a:ext cx="2819400" cy="21209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25" name="Badge4"/>
          <p:cNvSpPr>
            <a:spLocks noGrp="1"/>
          </p:cNvSpPr>
          <p:nvPr/>
        </p:nvSpPr>
        <p:spPr>
          <a:xfrm>
            <a:off x="3187700" y="3073400"/>
            <a:ext cx="330200" cy="1905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6" name="Title4"/>
          <p:cNvSpPr>
            <a:spLocks noGrp="1"/>
          </p:cNvSpPr>
          <p:nvPr/>
        </p:nvSpPr>
        <p:spPr>
          <a:xfrm>
            <a:off x="3187700" y="33020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0D9488"/>
                </a:solidFill>
              </a:rPr>
              <a:t>Modelo Preditivo · Consultas IA</a:t>
            </a:r>
          </a:p>
        </p:txBody>
      </p:sp>
      <p:sp>
        <p:nvSpPr>
          <p:cNvPr id="327" name="Div4"/>
          <p:cNvSpPr>
            <a:spLocks noGrp="1"/>
          </p:cNvSpPr>
          <p:nvPr/>
        </p:nvSpPr>
        <p:spPr>
          <a:xfrm>
            <a:off x="3187700" y="3594100"/>
            <a:ext cx="2616200" cy="25400"/>
          </a:xfrm>
          <a:prstGeom prst="rect">
            <a:avLst/>
          </a:prstGeom>
          <a:solidFill>
            <a:srgbClr val="0D9488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ub4"/>
          <p:cNvSpPr>
            <a:spLocks noGrp="1"/>
          </p:cNvSpPr>
          <p:nvPr/>
        </p:nvSpPr>
        <p:spPr>
          <a:xfrm>
            <a:off x="3187700" y="36449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750" b="1" i="1" dirty="0">
                <a:solidFill>
                  <a:srgbClr val="0D9488">
                    <a:alpha val="75000"/>
                  </a:srgbClr>
                </a:solidFill>
              </a:rPr>
              <a:t>Prophet · OCI Data Science · Select AI</a:t>
            </a:r>
          </a:p>
        </p:txBody>
      </p:sp>
      <p:sp>
        <p:nvSpPr>
          <p:cNvPr id="329" name="Body4"/>
          <p:cNvSpPr>
            <a:spLocks noGrp="1"/>
          </p:cNvSpPr>
          <p:nvPr/>
        </p:nvSpPr>
        <p:spPr>
          <a:xfrm>
            <a:off x="3187700" y="3848100"/>
            <a:ext cx="2616200" cy="11303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750" dirty="0">
                <a:solidFill>
                  <a:srgbClr val="1E293B"/>
                </a:solidFill>
              </a:rPr>
              <a:t>Com os dados estruturados, o modelo Prophet no OCI Data Science gera projeções de indicadores de saúde com 4 semanas de antecedência. Os gestores acessam os resultados pelo Oracle APEX e realizam consultas em linguagem natural via Select AI.</a:t>
            </a:r>
          </a:p>
        </p:txBody>
      </p:sp>
      <p:sp>
        <p:nvSpPr>
          <p:cNvPr id="330" name="Card5"/>
          <p:cNvSpPr>
            <a:spLocks noGrp="1"/>
          </p:cNvSpPr>
          <p:nvPr/>
        </p:nvSpPr>
        <p:spPr>
          <a:xfrm>
            <a:off x="5994400" y="2959100"/>
            <a:ext cx="2819400" cy="2120900"/>
          </a:xfrm>
          <a:prstGeom prst="roundRect">
            <a:avLst>
              <a:gd name="adj" fmla="val 4000"/>
            </a:avLst>
          </a:prstGeom>
          <a:solidFill>
            <a:srgbClr val="FDF2F8"/>
          </a:solidFill>
          <a:ln w="19050">
            <a:solidFill>
              <a:schemeClr val="tx1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31" name="Badge5"/>
          <p:cNvSpPr>
            <a:spLocks noGrp="1"/>
          </p:cNvSpPr>
          <p:nvPr/>
        </p:nvSpPr>
        <p:spPr>
          <a:xfrm>
            <a:off x="6096000" y="3073400"/>
            <a:ext cx="330200" cy="190500"/>
          </a:xfrm>
          <a:prstGeom prst="roundRect">
            <a:avLst>
              <a:gd name="adj" fmla="val 30000"/>
            </a:avLst>
          </a:prstGeom>
          <a:solidFill>
            <a:schemeClr val="tx1"/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2" name="Title5"/>
          <p:cNvSpPr>
            <a:spLocks noGrp="1"/>
          </p:cNvSpPr>
          <p:nvPr/>
        </p:nvSpPr>
        <p:spPr>
          <a:xfrm>
            <a:off x="6096000" y="3302000"/>
            <a:ext cx="2616200" cy="254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1000" b="1" dirty="0"/>
              <a:t>Gestor CROSS/SP · Governança</a:t>
            </a:r>
          </a:p>
        </p:txBody>
      </p:sp>
      <p:sp>
        <p:nvSpPr>
          <p:cNvPr id="333" name="Div5"/>
          <p:cNvSpPr>
            <a:spLocks noGrp="1"/>
          </p:cNvSpPr>
          <p:nvPr/>
        </p:nvSpPr>
        <p:spPr>
          <a:xfrm>
            <a:off x="6096000" y="3594100"/>
            <a:ext cx="2616200" cy="254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ub5"/>
          <p:cNvSpPr>
            <a:spLocks noGrp="1"/>
          </p:cNvSpPr>
          <p:nvPr/>
        </p:nvSpPr>
        <p:spPr>
          <a:xfrm>
            <a:off x="6096000" y="3644900"/>
            <a:ext cx="2616200" cy="1778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750" b="1" i="1" dirty="0">
                <a:solidFill>
                  <a:schemeClr val="tx1">
                    <a:lumMod val="95000"/>
                    <a:lumOff val="5000"/>
                    <a:alpha val="75000"/>
                  </a:schemeClr>
                </a:solidFill>
              </a:rPr>
              <a:t>Observabilidade · LGPD · Decisão</a:t>
            </a:r>
          </a:p>
        </p:txBody>
      </p:sp>
      <p:sp>
        <p:nvSpPr>
          <p:cNvPr id="335" name="Body5"/>
          <p:cNvSpPr>
            <a:spLocks noGrp="1"/>
          </p:cNvSpPr>
          <p:nvPr/>
        </p:nvSpPr>
        <p:spPr>
          <a:xfrm>
            <a:off x="6096000" y="3848100"/>
            <a:ext cx="2616200" cy="11303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r>
              <a:rPr lang="pt-BR" sz="750" dirty="0">
                <a:solidFill>
                  <a:srgbClr val="1E293B"/>
                </a:solidFill>
              </a:rPr>
              <a:t>O resultado chega ao Gestor e às equipes do CROSS-SP pelo navegador, permitindo decisões de saúde pública baseadas em dados atualizados. A </a:t>
            </a:r>
            <a:r>
              <a:rPr lang="pt-BR" sz="750" dirty="0" err="1">
                <a:solidFill>
                  <a:srgbClr val="1E293B"/>
                </a:solidFill>
              </a:rPr>
              <a:t>Observabilidade</a:t>
            </a:r>
            <a:r>
              <a:rPr lang="pt-BR" sz="750" dirty="0">
                <a:solidFill>
                  <a:srgbClr val="1E293B"/>
                </a:solidFill>
              </a:rPr>
              <a:t> monitora o pipeline em tempo real e a Governança assegura conformidade com a LGPD, protegendo os dados sensíveis dos pacientes.</a:t>
            </a:r>
            <a:r>
              <a:rPr lang="en-US" sz="750" dirty="0"/>
              <a:t>O </a:t>
            </a:r>
            <a:r>
              <a:rPr lang="en-US" sz="750" dirty="0" err="1"/>
              <a:t>resultado</a:t>
            </a:r>
            <a:r>
              <a:rPr lang="en-US" sz="750" dirty="0"/>
              <a:t> final </a:t>
            </a:r>
            <a:r>
              <a:rPr lang="en-US" sz="750" dirty="0" err="1"/>
              <a:t>chega</a:t>
            </a:r>
            <a:r>
              <a:rPr lang="en-US" sz="750" dirty="0"/>
              <a:t> </a:t>
            </a:r>
            <a:r>
              <a:rPr lang="en-US" sz="750" dirty="0" err="1"/>
              <a:t>ao</a:t>
            </a:r>
            <a:r>
              <a:rPr lang="en-US" sz="750" dirty="0"/>
              <a:t> Gestor e </a:t>
            </a:r>
            <a:r>
              <a:rPr lang="en-US" sz="750" dirty="0" err="1"/>
              <a:t>às</a:t>
            </a:r>
            <a:r>
              <a:rPr lang="en-US" sz="750" dirty="0"/>
              <a:t> equipes do CROSS-SP </a:t>
            </a:r>
            <a:r>
              <a:rPr lang="en-US" sz="750" dirty="0" err="1"/>
              <a:t>diretamente</a:t>
            </a:r>
            <a:r>
              <a:rPr lang="en-US" sz="750" dirty="0"/>
              <a:t> </a:t>
            </a:r>
            <a:r>
              <a:rPr lang="en-US" sz="750" dirty="0" err="1"/>
              <a:t>pelo</a:t>
            </a:r>
            <a:r>
              <a:rPr lang="en-US" sz="750" dirty="0"/>
              <a:t> </a:t>
            </a:r>
            <a:r>
              <a:rPr lang="en-US" sz="750" dirty="0" err="1"/>
              <a:t>navegador</a:t>
            </a:r>
            <a:r>
              <a:rPr lang="en-US" sz="750" dirty="0"/>
              <a:t>, </a:t>
            </a:r>
            <a:r>
              <a:rPr lang="en-US" sz="750" dirty="0" err="1"/>
              <a:t>permitindo</a:t>
            </a:r>
            <a:r>
              <a:rPr lang="en-US" sz="750" dirty="0"/>
              <a:t> </a:t>
            </a:r>
            <a:r>
              <a:rPr lang="en-US" sz="750" dirty="0" err="1"/>
              <a:t>decisões</a:t>
            </a:r>
            <a:r>
              <a:rPr lang="en-US" sz="750" dirty="0"/>
              <a:t> de </a:t>
            </a:r>
            <a:r>
              <a:rPr lang="en-US" sz="750" dirty="0" err="1"/>
              <a:t>saúde</a:t>
            </a:r>
            <a:r>
              <a:rPr lang="en-US" sz="750" dirty="0"/>
              <a:t> </a:t>
            </a:r>
            <a:r>
              <a:rPr lang="en-US" sz="750" dirty="0" err="1"/>
              <a:t>pública</a:t>
            </a:r>
            <a:r>
              <a:rPr lang="en-US" sz="750" dirty="0"/>
              <a:t> </a:t>
            </a:r>
            <a:r>
              <a:rPr lang="en-US" sz="750" dirty="0" err="1"/>
              <a:t>baseadas</a:t>
            </a:r>
            <a:r>
              <a:rPr lang="en-US" sz="750" dirty="0"/>
              <a:t> </a:t>
            </a:r>
            <a:r>
              <a:rPr lang="en-US" sz="750" dirty="0" err="1"/>
              <a:t>em</a:t>
            </a:r>
            <a:r>
              <a:rPr lang="en-US" sz="750" dirty="0"/>
              <a:t> dados </a:t>
            </a:r>
            <a:r>
              <a:rPr lang="en-US" sz="750" dirty="0" err="1"/>
              <a:t>atualizados</a:t>
            </a:r>
            <a:r>
              <a:rPr lang="en-US" sz="750" dirty="0"/>
              <a:t> e </a:t>
            </a:r>
            <a:r>
              <a:rPr lang="en-US" sz="750" dirty="0" err="1"/>
              <a:t>confiáveis</a:t>
            </a:r>
            <a:r>
              <a:rPr lang="en-US" sz="750" dirty="0"/>
              <a:t>.</a:t>
            </a:r>
            <a:endParaRPr lang="pt-BR" sz="750">
              <a:ea typeface="Calibri"/>
              <a:cs typeface="Calibri"/>
            </a:endParaRPr>
          </a:p>
          <a:p>
            <a:pPr>
              <a:buNone/>
            </a:pPr>
            <a:endParaRPr lang="pt-BR" sz="750" dirty="0">
              <a:solidFill>
                <a:srgbClr val="1E293B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046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17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Tecnologias</a:t>
            </a:r>
            <a:r>
              <a:rPr lang="en-US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Utilizadas</a:t>
            </a:r>
            <a:endParaRPr lang="en-US" sz="1700" b="1" err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-42862" y="4434840"/>
            <a:ext cx="9186862" cy="70485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BG"/>
          <p:cNvSpPr>
            <a:spLocks noGrp="1"/>
          </p:cNvSpPr>
          <p:nvPr/>
        </p:nvSpPr>
        <p:spPr>
          <a:xfrm>
            <a:off x="0" y="685800"/>
            <a:ext cx="9144000" cy="3746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" name="SecBG00"/>
          <p:cNvSpPr>
            <a:spLocks noGrp="1"/>
          </p:cNvSpPr>
          <p:nvPr/>
        </p:nvSpPr>
        <p:spPr>
          <a:xfrm>
            <a:off x="88900" y="723900"/>
            <a:ext cx="2971800" cy="1752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923C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1" name="SecLbl00"/>
          <p:cNvSpPr>
            <a:spLocks noGrp="1"/>
          </p:cNvSpPr>
          <p:nvPr/>
        </p:nvSpPr>
        <p:spPr>
          <a:xfrm>
            <a:off x="190500" y="787400"/>
            <a:ext cx="2768600" cy="1524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550" b="1" dirty="0">
                <a:solidFill>
                  <a:srgbClr val="FB923C"/>
                </a:solidFill>
              </a:rPr>
              <a:t>INGESTÃO · CONECTORES</a:t>
            </a:r>
          </a:p>
        </p:txBody>
      </p:sp>
      <p:sp>
        <p:nvSpPr>
          <p:cNvPr id="102" name="SecDiv00"/>
          <p:cNvSpPr>
            <a:spLocks noGrp="1"/>
          </p:cNvSpPr>
          <p:nvPr/>
        </p:nvSpPr>
        <p:spPr>
          <a:xfrm>
            <a:off x="190500" y="952500"/>
            <a:ext cx="2768600" cy="12700"/>
          </a:xfrm>
          <a:prstGeom prst="rect">
            <a:avLst/>
          </a:prstGeom>
          <a:solidFill>
            <a:srgbClr val="FB923C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3" name="TC000"/>
          <p:cNvSpPr>
            <a:spLocks noGrp="1"/>
          </p:cNvSpPr>
          <p:nvPr/>
        </p:nvSpPr>
        <p:spPr>
          <a:xfrm>
            <a:off x="190500" y="977900"/>
            <a:ext cx="2768600" cy="7239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B923C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4" name="TAcc000"/>
          <p:cNvSpPr>
            <a:spLocks noGrp="1"/>
          </p:cNvSpPr>
          <p:nvPr/>
        </p:nvSpPr>
        <p:spPr>
          <a:xfrm>
            <a:off x="228600" y="1041400"/>
            <a:ext cx="38100" cy="5969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TText000"/>
          <p:cNvSpPr>
            <a:spLocks noGrp="1"/>
          </p:cNvSpPr>
          <p:nvPr/>
        </p:nvSpPr>
        <p:spPr>
          <a:xfrm>
            <a:off x="304800" y="1041400"/>
            <a:ext cx="17526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Python (via OCI SDK)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Coleta de dados das fontes externas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Scripts Python usam o SDK oficial da Oracle para se conectar às fontes (PCDas, IBGE, CETESB) e enviar os dados brutos para dentro do ambiente OCI.</a:t>
            </a:r>
          </a:p>
        </p:txBody>
      </p:sp>
      <p:sp>
        <p:nvSpPr>
          <p:cNvPr id="106" name="TTag000"/>
          <p:cNvSpPr>
            <a:spLocks noGrp="1"/>
          </p:cNvSpPr>
          <p:nvPr/>
        </p:nvSpPr>
        <p:spPr>
          <a:xfrm>
            <a:off x="1993900" y="10414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FB923C"/>
                </a:solidFill>
              </a:rPr>
              <a:t>Conector</a:t>
            </a:r>
          </a:p>
        </p:txBody>
      </p:sp>
      <p:sp>
        <p:nvSpPr>
          <p:cNvPr id="107" name="TC001"/>
          <p:cNvSpPr>
            <a:spLocks noGrp="1"/>
          </p:cNvSpPr>
          <p:nvPr/>
        </p:nvSpPr>
        <p:spPr>
          <a:xfrm>
            <a:off x="190500" y="1727200"/>
            <a:ext cx="2768600" cy="7239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B923C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8" name="TAcc001"/>
          <p:cNvSpPr>
            <a:spLocks noGrp="1"/>
          </p:cNvSpPr>
          <p:nvPr/>
        </p:nvSpPr>
        <p:spPr>
          <a:xfrm>
            <a:off x="228600" y="1790700"/>
            <a:ext cx="38100" cy="5969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9" name="TText001"/>
          <p:cNvSpPr>
            <a:spLocks noGrp="1"/>
          </p:cNvSpPr>
          <p:nvPr/>
        </p:nvSpPr>
        <p:spPr>
          <a:xfrm>
            <a:off x="304800" y="1790700"/>
            <a:ext cx="17526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OCI Data Integration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Coordenar e agendar o pipeline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Serviço gerenciado da Oracle que agenda, ordena e monitora cada etapa do fluxo de dados.</a:t>
            </a:r>
          </a:p>
        </p:txBody>
      </p:sp>
      <p:sp>
        <p:nvSpPr>
          <p:cNvPr id="110" name="TTag001"/>
          <p:cNvSpPr>
            <a:spLocks noGrp="1"/>
          </p:cNvSpPr>
          <p:nvPr/>
        </p:nvSpPr>
        <p:spPr>
          <a:xfrm>
            <a:off x="1993900" y="17907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FB923C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FB923C"/>
                </a:solidFill>
              </a:rPr>
              <a:t>Orquestrador</a:t>
            </a:r>
          </a:p>
        </p:txBody>
      </p:sp>
      <p:sp>
        <p:nvSpPr>
          <p:cNvPr id="111" name="SecBG10"/>
          <p:cNvSpPr>
            <a:spLocks noGrp="1"/>
          </p:cNvSpPr>
          <p:nvPr/>
        </p:nvSpPr>
        <p:spPr>
          <a:xfrm>
            <a:off x="3111500" y="723900"/>
            <a:ext cx="2971800" cy="1752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BBF24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2" name="SecLbl10"/>
          <p:cNvSpPr>
            <a:spLocks noGrp="1"/>
          </p:cNvSpPr>
          <p:nvPr/>
        </p:nvSpPr>
        <p:spPr>
          <a:xfrm>
            <a:off x="3213100" y="787400"/>
            <a:ext cx="2768600" cy="1524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550" b="1" dirty="0">
                <a:solidFill>
                  <a:srgbClr val="FBBF24"/>
                </a:solidFill>
              </a:rPr>
              <a:t>ARMAZENAMENTO · DATA LAKE E BANCO</a:t>
            </a:r>
          </a:p>
        </p:txBody>
      </p:sp>
      <p:sp>
        <p:nvSpPr>
          <p:cNvPr id="113" name="SecDiv10"/>
          <p:cNvSpPr>
            <a:spLocks noGrp="1"/>
          </p:cNvSpPr>
          <p:nvPr/>
        </p:nvSpPr>
        <p:spPr>
          <a:xfrm>
            <a:off x="3213100" y="952500"/>
            <a:ext cx="2768600" cy="12700"/>
          </a:xfrm>
          <a:prstGeom prst="rect">
            <a:avLst/>
          </a:prstGeom>
          <a:solidFill>
            <a:srgbClr val="FBBF24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TC100"/>
          <p:cNvSpPr>
            <a:spLocks noGrp="1"/>
          </p:cNvSpPr>
          <p:nvPr/>
        </p:nvSpPr>
        <p:spPr>
          <a:xfrm>
            <a:off x="3213100" y="977900"/>
            <a:ext cx="2768600" cy="7239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BBF24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5" name="TAcc100"/>
          <p:cNvSpPr>
            <a:spLocks noGrp="1"/>
          </p:cNvSpPr>
          <p:nvPr/>
        </p:nvSpPr>
        <p:spPr>
          <a:xfrm>
            <a:off x="3251200" y="1041400"/>
            <a:ext cx="38100" cy="5969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6" name="TText100"/>
          <p:cNvSpPr>
            <a:spLocks noGrp="1"/>
          </p:cNvSpPr>
          <p:nvPr/>
        </p:nvSpPr>
        <p:spPr>
          <a:xfrm>
            <a:off x="3327400" y="1041400"/>
            <a:ext cx="17526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OCI Object Storage (Bucket)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Guardar arquivos brutos na nuvem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Armazena os dados no formato original (CSV, JSON, Parquet) antes do tratamento. Funciona como um HD na nuvem de baixo custo e alta capacidade.</a:t>
            </a:r>
          </a:p>
        </p:txBody>
      </p:sp>
      <p:sp>
        <p:nvSpPr>
          <p:cNvPr id="117" name="TTag100"/>
          <p:cNvSpPr>
            <a:spLocks noGrp="1"/>
          </p:cNvSpPr>
          <p:nvPr/>
        </p:nvSpPr>
        <p:spPr>
          <a:xfrm>
            <a:off x="5016500" y="10414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FBBF24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FBBF24"/>
                </a:solidFill>
              </a:rPr>
              <a:t>Data Lake</a:t>
            </a:r>
          </a:p>
        </p:txBody>
      </p:sp>
      <p:sp>
        <p:nvSpPr>
          <p:cNvPr id="118" name="TC101"/>
          <p:cNvSpPr>
            <a:spLocks noGrp="1"/>
          </p:cNvSpPr>
          <p:nvPr/>
        </p:nvSpPr>
        <p:spPr>
          <a:xfrm>
            <a:off x="3213100" y="1727200"/>
            <a:ext cx="2768600" cy="7239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EF4444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9" name="TAcc101"/>
          <p:cNvSpPr>
            <a:spLocks noGrp="1"/>
          </p:cNvSpPr>
          <p:nvPr/>
        </p:nvSpPr>
        <p:spPr>
          <a:xfrm>
            <a:off x="3251200" y="1790700"/>
            <a:ext cx="38100" cy="5969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" name="TText101"/>
          <p:cNvSpPr>
            <a:spLocks noGrp="1"/>
          </p:cNvSpPr>
          <p:nvPr/>
        </p:nvSpPr>
        <p:spPr>
          <a:xfrm>
            <a:off x="3327400" y="1790700"/>
            <a:ext cx="17526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Oracle Autonomous DB (ADB)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Armazenar dados tratados e prontos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Banco relacional gerenciado pela Oracle — se autoconfigura e autoescala. Recebe os dados limpos do ETL e serve como fonte para análises e modelos.</a:t>
            </a:r>
          </a:p>
        </p:txBody>
      </p:sp>
      <p:sp>
        <p:nvSpPr>
          <p:cNvPr id="121" name="TTag101"/>
          <p:cNvSpPr>
            <a:spLocks noGrp="1"/>
          </p:cNvSpPr>
          <p:nvPr/>
        </p:nvSpPr>
        <p:spPr>
          <a:xfrm>
            <a:off x="5016500" y="17907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EF4444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EF4444"/>
                </a:solidFill>
              </a:rPr>
              <a:t>Banco de dados</a:t>
            </a:r>
          </a:p>
        </p:txBody>
      </p:sp>
      <p:sp>
        <p:nvSpPr>
          <p:cNvPr id="122" name="SecBG20"/>
          <p:cNvSpPr>
            <a:spLocks noGrp="1"/>
          </p:cNvSpPr>
          <p:nvPr/>
        </p:nvSpPr>
        <p:spPr>
          <a:xfrm>
            <a:off x="6134100" y="723900"/>
            <a:ext cx="2971800" cy="1752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60A5FA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3" name="SecLbl20"/>
          <p:cNvSpPr>
            <a:spLocks noGrp="1"/>
          </p:cNvSpPr>
          <p:nvPr/>
        </p:nvSpPr>
        <p:spPr>
          <a:xfrm>
            <a:off x="6235700" y="787400"/>
            <a:ext cx="2768600" cy="1524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550" b="1" dirty="0">
                <a:solidFill>
                  <a:srgbClr val="60A5FA"/>
                </a:solidFill>
              </a:rPr>
              <a:t>TRANSFORMAÇÃO · ETL  /  MODELO PREDITIVO · IA</a:t>
            </a:r>
          </a:p>
        </p:txBody>
      </p:sp>
      <p:sp>
        <p:nvSpPr>
          <p:cNvPr id="124" name="SecDiv20"/>
          <p:cNvSpPr>
            <a:spLocks noGrp="1"/>
          </p:cNvSpPr>
          <p:nvPr/>
        </p:nvSpPr>
        <p:spPr>
          <a:xfrm>
            <a:off x="6235700" y="952500"/>
            <a:ext cx="2768600" cy="12700"/>
          </a:xfrm>
          <a:prstGeom prst="rect">
            <a:avLst/>
          </a:prstGeom>
          <a:solidFill>
            <a:srgbClr val="60A5FA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5" name="TC200"/>
          <p:cNvSpPr>
            <a:spLocks noGrp="1"/>
          </p:cNvSpPr>
          <p:nvPr/>
        </p:nvSpPr>
        <p:spPr>
          <a:xfrm>
            <a:off x="6235700" y="977900"/>
            <a:ext cx="2768600" cy="7239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6366F1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6" name="TAcc200"/>
          <p:cNvSpPr>
            <a:spLocks noGrp="1"/>
          </p:cNvSpPr>
          <p:nvPr/>
        </p:nvSpPr>
        <p:spPr>
          <a:xfrm>
            <a:off x="6273800" y="1041400"/>
            <a:ext cx="38100" cy="5969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7" name="TText200"/>
          <p:cNvSpPr>
            <a:spLocks noGrp="1"/>
          </p:cNvSpPr>
          <p:nvPr/>
        </p:nvSpPr>
        <p:spPr>
          <a:xfrm>
            <a:off x="6350000" y="1041400"/>
            <a:ext cx="17526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Python + ETL no OCI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Limpar e transformar os dados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Scripts Python rodando dentro do OCI leem os arquivos brutos do Bucket, aplicam limpeza e padronização, e carregam os dados tratados no Oracle ADB.</a:t>
            </a:r>
          </a:p>
        </p:txBody>
      </p:sp>
      <p:sp>
        <p:nvSpPr>
          <p:cNvPr id="128" name="TTag200"/>
          <p:cNvSpPr>
            <a:spLocks noGrp="1"/>
          </p:cNvSpPr>
          <p:nvPr/>
        </p:nvSpPr>
        <p:spPr>
          <a:xfrm>
            <a:off x="8039100" y="10414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6366F1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6366F1"/>
                </a:solidFill>
              </a:rPr>
              <a:t>ETL</a:t>
            </a:r>
          </a:p>
        </p:txBody>
      </p:sp>
      <p:sp>
        <p:nvSpPr>
          <p:cNvPr id="129" name="TC201"/>
          <p:cNvSpPr>
            <a:spLocks noGrp="1"/>
          </p:cNvSpPr>
          <p:nvPr/>
        </p:nvSpPr>
        <p:spPr>
          <a:xfrm>
            <a:off x="6235700" y="1727200"/>
            <a:ext cx="2768600" cy="7239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8B5CF6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0" name="TAcc201"/>
          <p:cNvSpPr>
            <a:spLocks noGrp="1"/>
          </p:cNvSpPr>
          <p:nvPr/>
        </p:nvSpPr>
        <p:spPr>
          <a:xfrm>
            <a:off x="6273800" y="1790700"/>
            <a:ext cx="38100" cy="5969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1" name="TText201"/>
          <p:cNvSpPr>
            <a:spLocks noGrp="1"/>
          </p:cNvSpPr>
          <p:nvPr/>
        </p:nvSpPr>
        <p:spPr>
          <a:xfrm>
            <a:off x="6350000" y="1790700"/>
            <a:ext cx="1752600" cy="5969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Prophet + OCI Data Science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Gerar previsões e análises preditivas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A biblioteca Prophet (criada pelo Meta) roda dentro do OCI Data Science, que fornece notebooks, GPUs e infraestrutura para treinar e publicar modelos de ML.</a:t>
            </a:r>
          </a:p>
        </p:txBody>
      </p:sp>
      <p:sp>
        <p:nvSpPr>
          <p:cNvPr id="132" name="TTag201"/>
          <p:cNvSpPr>
            <a:spLocks noGrp="1"/>
          </p:cNvSpPr>
          <p:nvPr/>
        </p:nvSpPr>
        <p:spPr>
          <a:xfrm>
            <a:off x="8039100" y="17907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8B5CF6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8B5CF6"/>
                </a:solidFill>
              </a:rPr>
              <a:t>Modelo preditivo</a:t>
            </a:r>
          </a:p>
        </p:txBody>
      </p:sp>
      <p:sp>
        <p:nvSpPr>
          <p:cNvPr id="133" name="SecBG01"/>
          <p:cNvSpPr>
            <a:spLocks noGrp="1"/>
          </p:cNvSpPr>
          <p:nvPr/>
        </p:nvSpPr>
        <p:spPr>
          <a:xfrm>
            <a:off x="88900" y="2527300"/>
            <a:ext cx="2971800" cy="18161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EC4899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4" name="SecLbl01"/>
          <p:cNvSpPr>
            <a:spLocks noGrp="1"/>
          </p:cNvSpPr>
          <p:nvPr/>
        </p:nvSpPr>
        <p:spPr>
          <a:xfrm>
            <a:off x="190500" y="2590800"/>
            <a:ext cx="2768600" cy="1524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550" b="1" dirty="0">
                <a:solidFill>
                  <a:srgbClr val="EC4899"/>
                </a:solidFill>
              </a:rPr>
              <a:t>VISUALIZAÇÃO · FRONTEND</a:t>
            </a:r>
          </a:p>
        </p:txBody>
      </p:sp>
      <p:sp>
        <p:nvSpPr>
          <p:cNvPr id="135" name="SecDiv01"/>
          <p:cNvSpPr>
            <a:spLocks noGrp="1"/>
          </p:cNvSpPr>
          <p:nvPr/>
        </p:nvSpPr>
        <p:spPr>
          <a:xfrm>
            <a:off x="190500" y="2755900"/>
            <a:ext cx="2768600" cy="12700"/>
          </a:xfrm>
          <a:prstGeom prst="rect">
            <a:avLst/>
          </a:prstGeom>
          <a:solidFill>
            <a:srgbClr val="EC4899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6" name="TC010"/>
          <p:cNvSpPr>
            <a:spLocks noGrp="1"/>
          </p:cNvSpPr>
          <p:nvPr/>
        </p:nvSpPr>
        <p:spPr>
          <a:xfrm>
            <a:off x="190500" y="2781300"/>
            <a:ext cx="2768600" cy="75565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EF4444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7" name="TAcc010"/>
          <p:cNvSpPr>
            <a:spLocks noGrp="1"/>
          </p:cNvSpPr>
          <p:nvPr/>
        </p:nvSpPr>
        <p:spPr>
          <a:xfrm>
            <a:off x="228600" y="284480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8" name="TText010"/>
          <p:cNvSpPr>
            <a:spLocks noGrp="1"/>
          </p:cNvSpPr>
          <p:nvPr/>
        </p:nvSpPr>
        <p:spPr>
          <a:xfrm>
            <a:off x="304800" y="2844800"/>
            <a:ext cx="17526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Oracle APEX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Dashboard e acesso pelo navegador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Plataforma low-code da Oracle para criar aplicações web diretamente conectadas ao ADB. O usuário final (Gestor/CROSS-SP) acessa via HTTPS.</a:t>
            </a:r>
          </a:p>
        </p:txBody>
      </p:sp>
      <p:sp>
        <p:nvSpPr>
          <p:cNvPr id="139" name="TTag010"/>
          <p:cNvSpPr>
            <a:spLocks noGrp="1"/>
          </p:cNvSpPr>
          <p:nvPr/>
        </p:nvSpPr>
        <p:spPr>
          <a:xfrm>
            <a:off x="1993900" y="28448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EF4444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EF4444"/>
                </a:solidFill>
              </a:rPr>
              <a:t>Interface web</a:t>
            </a:r>
          </a:p>
        </p:txBody>
      </p:sp>
      <p:sp>
        <p:nvSpPr>
          <p:cNvPr id="140" name="TC011"/>
          <p:cNvSpPr>
            <a:spLocks noGrp="1"/>
          </p:cNvSpPr>
          <p:nvPr/>
        </p:nvSpPr>
        <p:spPr>
          <a:xfrm>
            <a:off x="190500" y="3562350"/>
            <a:ext cx="2768600" cy="75565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2DD4BF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1" name="TAcc011"/>
          <p:cNvSpPr>
            <a:spLocks noGrp="1"/>
          </p:cNvSpPr>
          <p:nvPr/>
        </p:nvSpPr>
        <p:spPr>
          <a:xfrm>
            <a:off x="228600" y="3625850"/>
            <a:ext cx="38100" cy="62865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2" name="TText011"/>
          <p:cNvSpPr>
            <a:spLocks noGrp="1"/>
          </p:cNvSpPr>
          <p:nvPr/>
        </p:nvSpPr>
        <p:spPr>
          <a:xfrm>
            <a:off x="304800" y="3625850"/>
            <a:ext cx="17526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Select AI (Oracle native)</a:t>
            </a:r>
          </a:p>
          <a:p>
            <a:pPr>
              <a:buNone/>
            </a:pPr>
            <a:r>
              <a:rPr lang="pt-BR" sz="650" dirty="0">
                <a:solidFill>
                  <a:srgbClr val="94A3B8"/>
                </a:solidFill>
              </a:rPr>
              <a:t>Função: Perguntas ao banco em português</a:t>
            </a:r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Serviço nativo do Oracle ADB que converte perguntas em linguagem natural em consultas SQL — o gestor pergunta e o sistema responde automaticamente.</a:t>
            </a:r>
          </a:p>
        </p:txBody>
      </p:sp>
      <p:sp>
        <p:nvSpPr>
          <p:cNvPr id="143" name="TTag011"/>
          <p:cNvSpPr>
            <a:spLocks noGrp="1"/>
          </p:cNvSpPr>
          <p:nvPr/>
        </p:nvSpPr>
        <p:spPr>
          <a:xfrm>
            <a:off x="1993900" y="362585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2DD4BF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2DD4BF"/>
                </a:solidFill>
              </a:rPr>
              <a:t>Linguagem natural</a:t>
            </a:r>
          </a:p>
        </p:txBody>
      </p:sp>
      <p:sp>
        <p:nvSpPr>
          <p:cNvPr id="144" name="SecBG11"/>
          <p:cNvSpPr>
            <a:spLocks noGrp="1"/>
          </p:cNvSpPr>
          <p:nvPr/>
        </p:nvSpPr>
        <p:spPr>
          <a:xfrm>
            <a:off x="3111500" y="2527300"/>
            <a:ext cx="5994400" cy="18161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5" name="SecLbl11"/>
          <p:cNvSpPr>
            <a:spLocks noGrp="1"/>
          </p:cNvSpPr>
          <p:nvPr/>
        </p:nvSpPr>
        <p:spPr>
          <a:xfrm>
            <a:off x="3213100" y="2590800"/>
            <a:ext cx="5791200" cy="1524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550" b="1" dirty="0">
                <a:solidFill>
                  <a:srgbClr val="64748B"/>
                </a:solidFill>
              </a:rPr>
              <a:t>OBSERVABILIDADE · GOVERNANÇA</a:t>
            </a:r>
          </a:p>
        </p:txBody>
      </p:sp>
      <p:sp>
        <p:nvSpPr>
          <p:cNvPr id="146" name="SecDiv11"/>
          <p:cNvSpPr>
            <a:spLocks noGrp="1"/>
          </p:cNvSpPr>
          <p:nvPr/>
        </p:nvSpPr>
        <p:spPr>
          <a:xfrm>
            <a:off x="3213100" y="2755900"/>
            <a:ext cx="5791200" cy="12700"/>
          </a:xfrm>
          <a:prstGeom prst="rect">
            <a:avLst/>
          </a:prstGeom>
          <a:solidFill>
            <a:srgbClr val="64748B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7" name="TC110"/>
          <p:cNvSpPr>
            <a:spLocks noGrp="1"/>
          </p:cNvSpPr>
          <p:nvPr/>
        </p:nvSpPr>
        <p:spPr>
          <a:xfrm>
            <a:off x="3213100" y="2806700"/>
            <a:ext cx="2844800" cy="1460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22C55E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8" name="TAcc110"/>
          <p:cNvSpPr>
            <a:spLocks noGrp="1"/>
          </p:cNvSpPr>
          <p:nvPr/>
        </p:nvSpPr>
        <p:spPr>
          <a:xfrm>
            <a:off x="3251200" y="28702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9" name="TText110"/>
          <p:cNvSpPr>
            <a:spLocks noGrp="1"/>
          </p:cNvSpPr>
          <p:nvPr/>
        </p:nvSpPr>
        <p:spPr>
          <a:xfrm>
            <a:off x="3327400" y="2870200"/>
            <a:ext cx="1828800" cy="1333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OCI </a:t>
            </a:r>
            <a:r>
              <a:rPr lang="pt-BR" sz="800" b="1" dirty="0" err="1">
                <a:solidFill>
                  <a:srgbClr val="F1F5F9"/>
                </a:solidFill>
              </a:rPr>
              <a:t>Monitoring</a:t>
            </a:r>
            <a:r>
              <a:rPr lang="pt-BR" sz="800" b="1" dirty="0">
                <a:solidFill>
                  <a:srgbClr val="F1F5F9"/>
                </a:solidFill>
              </a:rPr>
              <a:t> + </a:t>
            </a:r>
            <a:r>
              <a:rPr lang="pt-BR" sz="800" b="1" dirty="0" err="1">
                <a:solidFill>
                  <a:srgbClr val="F1F5F9"/>
                </a:solidFill>
              </a:rPr>
              <a:t>Logging</a:t>
            </a:r>
            <a:endParaRPr lang="pt-BR" sz="800" b="1" dirty="0" err="1">
              <a:solidFill>
                <a:srgbClr val="F1F5F9"/>
              </a:solidFill>
              <a:ea typeface="Calibri"/>
              <a:cs typeface="Calibri"/>
            </a:endParaRPr>
          </a:p>
          <a:p>
            <a:endParaRPr lang="pt-BR" sz="650" dirty="0">
              <a:solidFill>
                <a:srgbClr val="94A3B8"/>
              </a:solidFill>
            </a:endParaRPr>
          </a:p>
          <a:p>
            <a:pPr>
              <a:buNone/>
            </a:pPr>
            <a:r>
              <a:rPr lang="pt-BR" sz="650">
                <a:solidFill>
                  <a:srgbClr val="94A3B8"/>
                </a:solidFill>
              </a:rPr>
              <a:t>Função: Monitorar erros e desempenho do </a:t>
            </a:r>
            <a:r>
              <a:rPr lang="pt-BR" sz="650" dirty="0">
                <a:solidFill>
                  <a:srgbClr val="94A3B8"/>
                </a:solidFill>
              </a:rPr>
              <a:t>pipeline</a:t>
            </a:r>
            <a:endParaRPr lang="pt-BR"/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Coleta métricas e logs de todas as etapas do pipeline em tempo real. Gera alertas automáticos quando algo falha ou sai do padrão esperado.</a:t>
            </a:r>
          </a:p>
        </p:txBody>
      </p:sp>
      <p:sp>
        <p:nvSpPr>
          <p:cNvPr id="150" name="TTag110"/>
          <p:cNvSpPr>
            <a:spLocks noGrp="1"/>
          </p:cNvSpPr>
          <p:nvPr/>
        </p:nvSpPr>
        <p:spPr>
          <a:xfrm>
            <a:off x="5092700" y="28702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22C55E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22C55E"/>
                </a:solidFill>
              </a:rPr>
              <a:t>Observabilidade</a:t>
            </a:r>
          </a:p>
        </p:txBody>
      </p:sp>
      <p:sp>
        <p:nvSpPr>
          <p:cNvPr id="151" name="TC111"/>
          <p:cNvSpPr>
            <a:spLocks noGrp="1"/>
          </p:cNvSpPr>
          <p:nvPr/>
        </p:nvSpPr>
        <p:spPr>
          <a:xfrm>
            <a:off x="6159500" y="2806700"/>
            <a:ext cx="2844800" cy="1460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10B981">
                <a:alpha val="4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2" name="TAcc111"/>
          <p:cNvSpPr>
            <a:spLocks noGrp="1"/>
          </p:cNvSpPr>
          <p:nvPr/>
        </p:nvSpPr>
        <p:spPr>
          <a:xfrm>
            <a:off x="6197600" y="2870200"/>
            <a:ext cx="38100" cy="1333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3" name="TText111"/>
          <p:cNvSpPr>
            <a:spLocks noGrp="1"/>
          </p:cNvSpPr>
          <p:nvPr/>
        </p:nvSpPr>
        <p:spPr>
          <a:xfrm>
            <a:off x="6273800" y="2870200"/>
            <a:ext cx="1828800" cy="1333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F1F5F9"/>
                </a:solidFill>
              </a:rPr>
              <a:t>Governança LGPD + Anonimização</a:t>
            </a:r>
          </a:p>
          <a:p>
            <a:endParaRPr lang="pt-BR" sz="650" dirty="0">
              <a:solidFill>
                <a:srgbClr val="94A3B8"/>
              </a:solidFill>
            </a:endParaRPr>
          </a:p>
          <a:p>
            <a:pPr>
              <a:buNone/>
            </a:pPr>
            <a:r>
              <a:rPr lang="pt-BR" sz="650">
                <a:solidFill>
                  <a:srgbClr val="94A3B8"/>
                </a:solidFill>
              </a:rPr>
              <a:t>Função: Garantir conformidade com a LGPD</a:t>
            </a:r>
            <a:endParaRPr lang="pt-BR"/>
          </a:p>
          <a:p>
            <a:pPr>
              <a:buNone/>
            </a:pPr>
            <a:r>
              <a:rPr lang="pt-BR" sz="600" dirty="0">
                <a:solidFill>
                  <a:srgbClr val="64748B"/>
                </a:solidFill>
              </a:rPr>
              <a:t>Camada de regras e processos aplicada sobre os dados sensíveis — mascaramento, anonimização e controle de acesso para garantir conformidade com a LGPD.</a:t>
            </a:r>
          </a:p>
        </p:txBody>
      </p:sp>
      <p:sp>
        <p:nvSpPr>
          <p:cNvPr id="154" name="TTag111"/>
          <p:cNvSpPr>
            <a:spLocks noGrp="1"/>
          </p:cNvSpPr>
          <p:nvPr/>
        </p:nvSpPr>
        <p:spPr>
          <a:xfrm>
            <a:off x="8039100" y="2870200"/>
            <a:ext cx="914400" cy="139700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480" b="1" dirty="0">
                <a:solidFill>
                  <a:srgbClr val="10B981"/>
                </a:solidFill>
              </a:rPr>
              <a:t>Governança</a:t>
            </a:r>
          </a:p>
        </p:txBody>
      </p:sp>
      <p:pic>
        <p:nvPicPr>
          <p:cNvPr id="155" name="Graphic 155" descr="Python via OCI SD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7912" y="1285875"/>
            <a:ext cx="203200" cy="203200"/>
          </a:xfrm>
          <a:prstGeom prst="rect">
            <a:avLst/>
          </a:prstGeom>
        </p:spPr>
      </p:pic>
      <p:pic>
        <p:nvPicPr>
          <p:cNvPr id="156" name="Graphic 156" descr="OCI Data Integ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7912" y="1987550"/>
            <a:ext cx="203200" cy="203200"/>
          </a:xfrm>
          <a:prstGeom prst="rect">
            <a:avLst/>
          </a:prstGeom>
        </p:spPr>
      </p:pic>
      <p:pic>
        <p:nvPicPr>
          <p:cNvPr id="157" name="Graphic 157" descr="OCI Object Stor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51463" y="1285875"/>
            <a:ext cx="203200" cy="203200"/>
          </a:xfrm>
          <a:prstGeom prst="rect">
            <a:avLst/>
          </a:prstGeom>
        </p:spPr>
      </p:pic>
      <p:pic>
        <p:nvPicPr>
          <p:cNvPr id="158" name="Graphic 158" descr="Oracle Autonomous D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1463" y="1987550"/>
            <a:ext cx="203200" cy="203200"/>
          </a:xfrm>
          <a:prstGeom prst="rect">
            <a:avLst/>
          </a:prstGeom>
        </p:spPr>
      </p:pic>
      <p:pic>
        <p:nvPicPr>
          <p:cNvPr id="159" name="Graphic 159" descr="Python ET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112" y="1285875"/>
            <a:ext cx="203200" cy="203200"/>
          </a:xfrm>
          <a:prstGeom prst="rect">
            <a:avLst/>
          </a:prstGeom>
        </p:spPr>
      </p:pic>
      <p:pic>
        <p:nvPicPr>
          <p:cNvPr id="160" name="Graphic 160" descr="Prophet OCI Data Sci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3112" y="1987550"/>
            <a:ext cx="203200" cy="203200"/>
          </a:xfrm>
          <a:prstGeom prst="rect">
            <a:avLst/>
          </a:prstGeom>
        </p:spPr>
      </p:pic>
      <p:pic>
        <p:nvPicPr>
          <p:cNvPr id="161" name="Graphic 161" descr="Oracle APEX Interface we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47912" y="3060700"/>
            <a:ext cx="203200" cy="203200"/>
          </a:xfrm>
          <a:prstGeom prst="rect">
            <a:avLst/>
          </a:prstGeom>
        </p:spPr>
      </p:pic>
      <p:pic>
        <p:nvPicPr>
          <p:cNvPr id="162" name="Graphic 162" descr="Select AI linguagem natur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47912" y="3838575"/>
            <a:ext cx="203200" cy="203200"/>
          </a:xfrm>
          <a:prstGeom prst="rect">
            <a:avLst/>
          </a:prstGeom>
        </p:spPr>
      </p:pic>
      <p:pic>
        <p:nvPicPr>
          <p:cNvPr id="163" name="Graphic 163" descr="OCI Monitoring Logg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51475" y="3095625"/>
            <a:ext cx="203200" cy="203200"/>
          </a:xfrm>
          <a:prstGeom prst="rect">
            <a:avLst/>
          </a:prstGeom>
        </p:spPr>
      </p:pic>
      <p:pic>
        <p:nvPicPr>
          <p:cNvPr id="164" name="Graphic 164" descr="Governança LGPD Anonimizaçã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93112" y="3095625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4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A36"/>
          </a:solidFill>
          <a:ln w="12700">
            <a:solidFill>
              <a:srgbClr val="4472C4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 </a:t>
            </a:r>
            <a:r>
              <a:rPr lang="en-US" sz="1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Protótipo</a:t>
            </a:r>
            <a:r>
              <a:rPr lang="en-US" sz="15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— Tela 1: </a:t>
            </a:r>
            <a:r>
              <a:rPr lang="en-US" sz="1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Monitoramento</a:t>
            </a:r>
          </a:p>
        </p:txBody>
      </p:sp>
      <p:sp>
        <p:nvSpPr>
          <p:cNvPr id="50" name="DarkBG"/>
          <p:cNvSpPr>
            <a:spLocks noGrp="1"/>
          </p:cNvSpPr>
          <p:nvPr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" name="Subtitle"/>
          <p:cNvSpPr>
            <a:spLocks noGrp="1"/>
          </p:cNvSpPr>
          <p:nvPr/>
        </p:nvSpPr>
        <p:spPr>
          <a:xfrm>
            <a:off x="228600" y="723900"/>
            <a:ext cx="8686800" cy="2032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750" i="1" dirty="0">
                <a:solidFill>
                  <a:srgbClr val="94A3B8"/>
                </a:solidFill>
              </a:rPr>
              <a:t>"O gestor abre o sistema e em 10 segundos sabe quais regiões estão em risco."</a:t>
            </a:r>
          </a:p>
        </p:txBody>
      </p:sp>
      <p:sp>
        <p:nvSpPr>
          <p:cNvPr id="52" name="MapPanel"/>
          <p:cNvSpPr>
            <a:spLocks noGrp="1"/>
          </p:cNvSpPr>
          <p:nvPr/>
        </p:nvSpPr>
        <p:spPr>
          <a:xfrm>
            <a:off x="177800" y="977900"/>
            <a:ext cx="5207000" cy="3505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0EA5E9">
                <a:alpha val="5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" name="MapLabel"/>
          <p:cNvSpPr>
            <a:spLocks noGrp="1"/>
          </p:cNvSpPr>
          <p:nvPr/>
        </p:nvSpPr>
        <p:spPr>
          <a:xfrm>
            <a:off x="177800" y="9779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650" b="1" dirty="0">
                <a:solidFill>
                  <a:srgbClr val="0EA5E9"/>
                </a:solidFill>
              </a:rPr>
              <a:t>MAPA — SÃO PAULO</a:t>
            </a:r>
          </a:p>
        </p:txBody>
      </p:sp>
      <p:sp>
        <p:nvSpPr>
          <p:cNvPr id="60" name="ZC0"/>
          <p:cNvSpPr>
            <a:spLocks noGrp="1"/>
          </p:cNvSpPr>
          <p:nvPr/>
        </p:nvSpPr>
        <p:spPr>
          <a:xfrm>
            <a:off x="1092200" y="152400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1" name="ZN0"/>
          <p:cNvSpPr>
            <a:spLocks noGrp="1"/>
          </p:cNvSpPr>
          <p:nvPr/>
        </p:nvSpPr>
        <p:spPr>
          <a:xfrm>
            <a:off x="1092200" y="1574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F1F5F9"/>
                </a:solidFill>
              </a:rPr>
              <a:t>Zona Norte</a:t>
            </a:r>
          </a:p>
        </p:txBody>
      </p:sp>
      <p:sp>
        <p:nvSpPr>
          <p:cNvPr id="62" name="ZD0"/>
          <p:cNvSpPr>
            <a:spLocks noGrp="1"/>
          </p:cNvSpPr>
          <p:nvPr/>
        </p:nvSpPr>
        <p:spPr>
          <a:xfrm>
            <a:off x="1701800" y="1930400"/>
            <a:ext cx="152400" cy="152400"/>
          </a:xfrm>
          <a:prstGeom prst="ellipse">
            <a:avLst/>
          </a:prstGeom>
          <a:solidFill>
            <a:srgbClr val="FCD34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ZC1"/>
          <p:cNvSpPr>
            <a:spLocks noGrp="1"/>
          </p:cNvSpPr>
          <p:nvPr/>
        </p:nvSpPr>
        <p:spPr>
          <a:xfrm>
            <a:off x="2921000" y="152400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EF4444">
              <a:alpha val="25000"/>
            </a:srgbClr>
          </a:solidFill>
          <a:ln w="19050">
            <a:solidFill>
              <a:srgbClr val="EF4444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4" name="ZN1"/>
          <p:cNvSpPr>
            <a:spLocks noGrp="1"/>
          </p:cNvSpPr>
          <p:nvPr/>
        </p:nvSpPr>
        <p:spPr>
          <a:xfrm>
            <a:off x="2921000" y="15748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F1F5F9"/>
                </a:solidFill>
              </a:rPr>
              <a:t>Zona Leste</a:t>
            </a:r>
          </a:p>
        </p:txBody>
      </p:sp>
      <p:sp>
        <p:nvSpPr>
          <p:cNvPr id="65" name="ZD1"/>
          <p:cNvSpPr>
            <a:spLocks noGrp="1"/>
          </p:cNvSpPr>
          <p:nvPr/>
        </p:nvSpPr>
        <p:spPr>
          <a:xfrm>
            <a:off x="3530600" y="1930400"/>
            <a:ext cx="152400" cy="152400"/>
          </a:xfrm>
          <a:prstGeom prst="ellipse">
            <a:avLst/>
          </a:prstGeom>
          <a:solidFill>
            <a:srgbClr val="FCA5A5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6" name="ZC2"/>
          <p:cNvSpPr>
            <a:spLocks noGrp="1"/>
          </p:cNvSpPr>
          <p:nvPr/>
        </p:nvSpPr>
        <p:spPr>
          <a:xfrm>
            <a:off x="1092200" y="238760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2C55E">
              <a:alpha val="25000"/>
            </a:srgbClr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7" name="ZN2"/>
          <p:cNvSpPr>
            <a:spLocks noGrp="1"/>
          </p:cNvSpPr>
          <p:nvPr/>
        </p:nvSpPr>
        <p:spPr>
          <a:xfrm>
            <a:off x="1092200" y="24384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F1F5F9"/>
                </a:solidFill>
              </a:rPr>
              <a:t>Zona Sul</a:t>
            </a:r>
          </a:p>
        </p:txBody>
      </p:sp>
      <p:sp>
        <p:nvSpPr>
          <p:cNvPr id="68" name="ZD2"/>
          <p:cNvSpPr>
            <a:spLocks noGrp="1"/>
          </p:cNvSpPr>
          <p:nvPr/>
        </p:nvSpPr>
        <p:spPr>
          <a:xfrm>
            <a:off x="1701800" y="2794000"/>
            <a:ext cx="152400" cy="152400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9" name="ZC3"/>
          <p:cNvSpPr>
            <a:spLocks noGrp="1"/>
          </p:cNvSpPr>
          <p:nvPr/>
        </p:nvSpPr>
        <p:spPr>
          <a:xfrm>
            <a:off x="2921000" y="238760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22C55E">
              <a:alpha val="25000"/>
            </a:srgbClr>
          </a:solidFill>
          <a:ln w="19050"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0" name="ZN3"/>
          <p:cNvSpPr>
            <a:spLocks noGrp="1"/>
          </p:cNvSpPr>
          <p:nvPr/>
        </p:nvSpPr>
        <p:spPr>
          <a:xfrm>
            <a:off x="2921000" y="24384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F1F5F9"/>
                </a:solidFill>
              </a:rPr>
              <a:t>Zona Oeste</a:t>
            </a:r>
          </a:p>
        </p:txBody>
      </p:sp>
      <p:sp>
        <p:nvSpPr>
          <p:cNvPr id="71" name="ZD3"/>
          <p:cNvSpPr>
            <a:spLocks noGrp="1"/>
          </p:cNvSpPr>
          <p:nvPr/>
        </p:nvSpPr>
        <p:spPr>
          <a:xfrm>
            <a:off x="3530600" y="2794000"/>
            <a:ext cx="152400" cy="152400"/>
          </a:xfrm>
          <a:prstGeom prst="ellipse">
            <a:avLst/>
          </a:prstGeom>
          <a:solidFill>
            <a:srgbClr val="86EFA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2" name="ZC4"/>
          <p:cNvSpPr>
            <a:spLocks noGrp="1"/>
          </p:cNvSpPr>
          <p:nvPr/>
        </p:nvSpPr>
        <p:spPr>
          <a:xfrm>
            <a:off x="2006600" y="3251200"/>
            <a:ext cx="1371600" cy="685800"/>
          </a:xfrm>
          <a:prstGeom prst="roundRect">
            <a:avLst>
              <a:gd name="adj" fmla="val 5000"/>
            </a:avLst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3" name="ZN4"/>
          <p:cNvSpPr>
            <a:spLocks noGrp="1"/>
          </p:cNvSpPr>
          <p:nvPr/>
        </p:nvSpPr>
        <p:spPr>
          <a:xfrm>
            <a:off x="2006600" y="33020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F1F5F9"/>
                </a:solidFill>
              </a:rPr>
              <a:t>Centro</a:t>
            </a:r>
          </a:p>
        </p:txBody>
      </p:sp>
      <p:sp>
        <p:nvSpPr>
          <p:cNvPr id="74" name="ZD4"/>
          <p:cNvSpPr>
            <a:spLocks noGrp="1"/>
          </p:cNvSpPr>
          <p:nvPr/>
        </p:nvSpPr>
        <p:spPr>
          <a:xfrm>
            <a:off x="2616200" y="3657600"/>
            <a:ext cx="152400" cy="152400"/>
          </a:xfrm>
          <a:prstGeom prst="ellipse">
            <a:avLst/>
          </a:prstGeom>
          <a:solidFill>
            <a:srgbClr val="FCD34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5" name="SC0"/>
          <p:cNvSpPr>
            <a:spLocks noGrp="1"/>
          </p:cNvSpPr>
          <p:nvPr/>
        </p:nvSpPr>
        <p:spPr>
          <a:xfrm>
            <a:off x="5486400" y="977900"/>
            <a:ext cx="3530600" cy="8001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6" name="SA0"/>
          <p:cNvSpPr>
            <a:spLocks noGrp="1"/>
          </p:cNvSpPr>
          <p:nvPr/>
        </p:nvSpPr>
        <p:spPr>
          <a:xfrm>
            <a:off x="5537200" y="1054100"/>
            <a:ext cx="50800" cy="6477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7" name="SN0"/>
          <p:cNvSpPr>
            <a:spLocks noGrp="1"/>
          </p:cNvSpPr>
          <p:nvPr/>
        </p:nvSpPr>
        <p:spPr>
          <a:xfrm>
            <a:off x="5664200" y="10541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E2E8F0"/>
                </a:solidFill>
              </a:rPr>
              <a:t>Zona Leste</a:t>
            </a:r>
          </a:p>
        </p:txBody>
      </p:sp>
      <p:sp>
        <p:nvSpPr>
          <p:cNvPr id="78" name="SP0"/>
          <p:cNvSpPr>
            <a:spLocks noGrp="1"/>
          </p:cNvSpPr>
          <p:nvPr/>
        </p:nvSpPr>
        <p:spPr>
          <a:xfrm>
            <a:off x="5664200" y="12827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EF4444"/>
                </a:solidFill>
              </a:rPr>
              <a:t>91%</a:t>
            </a:r>
          </a:p>
        </p:txBody>
      </p:sp>
      <p:sp>
        <p:nvSpPr>
          <p:cNvPr id="79" name="ST0"/>
          <p:cNvSpPr>
            <a:spLocks noGrp="1"/>
          </p:cNvSpPr>
          <p:nvPr/>
        </p:nvSpPr>
        <p:spPr>
          <a:xfrm>
            <a:off x="7874000" y="12954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50" b="1" dirty="0">
                <a:solidFill>
                  <a:srgbClr val="EF4444"/>
                </a:solidFill>
              </a:rPr>
              <a:t>↑ CRÍTICO</a:t>
            </a:r>
          </a:p>
        </p:txBody>
      </p:sp>
      <p:sp>
        <p:nvSpPr>
          <p:cNvPr id="80" name="SC1"/>
          <p:cNvSpPr>
            <a:spLocks noGrp="1"/>
          </p:cNvSpPr>
          <p:nvPr/>
        </p:nvSpPr>
        <p:spPr>
          <a:xfrm>
            <a:off x="5486400" y="1828800"/>
            <a:ext cx="3530600" cy="8001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1" name="SA1"/>
          <p:cNvSpPr>
            <a:spLocks noGrp="1"/>
          </p:cNvSpPr>
          <p:nvPr/>
        </p:nvSpPr>
        <p:spPr>
          <a:xfrm>
            <a:off x="5537200" y="1905000"/>
            <a:ext cx="50800" cy="647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2" name="SN1"/>
          <p:cNvSpPr>
            <a:spLocks noGrp="1"/>
          </p:cNvSpPr>
          <p:nvPr/>
        </p:nvSpPr>
        <p:spPr>
          <a:xfrm>
            <a:off x="5664200" y="19050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E2E8F0"/>
                </a:solidFill>
              </a:rPr>
              <a:t>Zona Norte</a:t>
            </a:r>
          </a:p>
        </p:txBody>
      </p:sp>
      <p:sp>
        <p:nvSpPr>
          <p:cNvPr id="83" name="SP1"/>
          <p:cNvSpPr>
            <a:spLocks noGrp="1"/>
          </p:cNvSpPr>
          <p:nvPr/>
        </p:nvSpPr>
        <p:spPr>
          <a:xfrm>
            <a:off x="5664200" y="21336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F59E0B"/>
                </a:solidFill>
              </a:rPr>
              <a:t>76%</a:t>
            </a:r>
          </a:p>
        </p:txBody>
      </p:sp>
      <p:sp>
        <p:nvSpPr>
          <p:cNvPr id="84" name="ST1"/>
          <p:cNvSpPr>
            <a:spLocks noGrp="1"/>
          </p:cNvSpPr>
          <p:nvPr/>
        </p:nvSpPr>
        <p:spPr>
          <a:xfrm>
            <a:off x="7874000" y="21463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50" b="1" dirty="0">
                <a:solidFill>
                  <a:srgbClr val="F59E0B"/>
                </a:solidFill>
              </a:rPr>
              <a:t>↑ ATENÇÃO</a:t>
            </a:r>
          </a:p>
        </p:txBody>
      </p:sp>
      <p:sp>
        <p:nvSpPr>
          <p:cNvPr id="85" name="SC2"/>
          <p:cNvSpPr>
            <a:spLocks noGrp="1"/>
          </p:cNvSpPr>
          <p:nvPr/>
        </p:nvSpPr>
        <p:spPr>
          <a:xfrm>
            <a:off x="5486400" y="2679700"/>
            <a:ext cx="3530600" cy="8001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6" name="SA2"/>
          <p:cNvSpPr>
            <a:spLocks noGrp="1"/>
          </p:cNvSpPr>
          <p:nvPr/>
        </p:nvSpPr>
        <p:spPr>
          <a:xfrm>
            <a:off x="5537200" y="2755900"/>
            <a:ext cx="50800" cy="647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7" name="SN2"/>
          <p:cNvSpPr>
            <a:spLocks noGrp="1"/>
          </p:cNvSpPr>
          <p:nvPr/>
        </p:nvSpPr>
        <p:spPr>
          <a:xfrm>
            <a:off x="5664200" y="27559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E2E8F0"/>
                </a:solidFill>
              </a:rPr>
              <a:t>Centro</a:t>
            </a:r>
          </a:p>
        </p:txBody>
      </p:sp>
      <p:sp>
        <p:nvSpPr>
          <p:cNvPr id="88" name="SP2"/>
          <p:cNvSpPr>
            <a:spLocks noGrp="1"/>
          </p:cNvSpPr>
          <p:nvPr/>
        </p:nvSpPr>
        <p:spPr>
          <a:xfrm>
            <a:off x="5664200" y="29845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F59E0B"/>
                </a:solidFill>
              </a:rPr>
              <a:t>72%</a:t>
            </a:r>
          </a:p>
        </p:txBody>
      </p:sp>
      <p:sp>
        <p:nvSpPr>
          <p:cNvPr id="89" name="ST2"/>
          <p:cNvSpPr>
            <a:spLocks noGrp="1"/>
          </p:cNvSpPr>
          <p:nvPr/>
        </p:nvSpPr>
        <p:spPr>
          <a:xfrm>
            <a:off x="7874000" y="29972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FBBF24">
              <a:alpha val="25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50" b="1" dirty="0">
                <a:solidFill>
                  <a:srgbClr val="FBBF24"/>
                </a:solidFill>
              </a:rPr>
              <a:t>→ ESTÁVEL</a:t>
            </a:r>
          </a:p>
        </p:txBody>
      </p:sp>
      <p:sp>
        <p:nvSpPr>
          <p:cNvPr id="90" name="SC3"/>
          <p:cNvSpPr>
            <a:spLocks noGrp="1"/>
          </p:cNvSpPr>
          <p:nvPr/>
        </p:nvSpPr>
        <p:spPr>
          <a:xfrm>
            <a:off x="5486400" y="3530600"/>
            <a:ext cx="3530600" cy="8001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" name="SA3"/>
          <p:cNvSpPr>
            <a:spLocks noGrp="1"/>
          </p:cNvSpPr>
          <p:nvPr/>
        </p:nvSpPr>
        <p:spPr>
          <a:xfrm>
            <a:off x="5537200" y="3606800"/>
            <a:ext cx="50800" cy="6477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" name="SN3"/>
          <p:cNvSpPr>
            <a:spLocks noGrp="1"/>
          </p:cNvSpPr>
          <p:nvPr/>
        </p:nvSpPr>
        <p:spPr>
          <a:xfrm>
            <a:off x="5664200" y="360680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800" b="1" dirty="0">
                <a:solidFill>
                  <a:srgbClr val="E2E8F0"/>
                </a:solidFill>
              </a:rPr>
              <a:t>Zona Sul</a:t>
            </a:r>
          </a:p>
        </p:txBody>
      </p:sp>
      <p:sp>
        <p:nvSpPr>
          <p:cNvPr id="93" name="SP3"/>
          <p:cNvSpPr>
            <a:spLocks noGrp="1"/>
          </p:cNvSpPr>
          <p:nvPr/>
        </p:nvSpPr>
        <p:spPr>
          <a:xfrm>
            <a:off x="5664200" y="38354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22C55E"/>
                </a:solidFill>
              </a:rPr>
              <a:t>58%</a:t>
            </a:r>
          </a:p>
        </p:txBody>
      </p:sp>
      <p:sp>
        <p:nvSpPr>
          <p:cNvPr id="94" name="ST3"/>
          <p:cNvSpPr>
            <a:spLocks noGrp="1"/>
          </p:cNvSpPr>
          <p:nvPr/>
        </p:nvSpPr>
        <p:spPr>
          <a:xfrm>
            <a:off x="7874000" y="3848100"/>
            <a:ext cx="1016000" cy="177800"/>
          </a:xfrm>
          <a:prstGeom prst="roundRect">
            <a:avLst>
              <a:gd name="adj" fmla="val 50000"/>
            </a:avLst>
          </a:prstGeom>
          <a:solidFill>
            <a:srgbClr val="22C55E">
              <a:alpha val="25000"/>
            </a:srgbClr>
          </a:solidFill>
          <a:ln>
            <a:noFill/>
          </a:ln>
        </p:spPr>
        <p:txBody>
          <a:bodyPr anchor="ctr" anchorCtr="1">
            <a:noAutofit/>
          </a:bodyPr>
          <a:lstStyle/>
          <a:p>
            <a:pPr algn="ctr"/>
            <a:r>
              <a:rPr lang="pt-BR" sz="650" b="1" dirty="0">
                <a:solidFill>
                  <a:srgbClr val="22C55E"/>
                </a:solidFill>
              </a:rPr>
              <a:t>↓ OK</a:t>
            </a:r>
          </a:p>
        </p:txBody>
      </p:sp>
      <p:sp>
        <p:nvSpPr>
          <p:cNvPr id="95" name="Footer"/>
          <p:cNvSpPr>
            <a:spLocks noGrp="1"/>
          </p:cNvSpPr>
          <p:nvPr/>
        </p:nvSpPr>
        <p:spPr>
          <a:xfrm>
            <a:off x="177800" y="4546600"/>
            <a:ext cx="8788400" cy="4318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9525">
            <a:solidFill>
              <a:srgbClr val="0EA5E9">
                <a:alpha val="40000"/>
              </a:srgbClr>
            </a:solidFill>
          </a:ln>
        </p:spPr>
        <p:txBody>
          <a:bodyPr lIns="152400" tIns="45720" rIns="152400" bIns="45720" anchor="ctr">
            <a:noAutofit/>
          </a:bodyPr>
          <a:lstStyle/>
          <a:p>
            <a:r>
              <a:rPr lang="pt-BR" sz="700" b="1" dirty="0">
                <a:solidFill>
                  <a:srgbClr val="0EA5E9"/>
                </a:solidFill>
              </a:rPr>
              <a:t>Todas as regiões </a:t>
            </a:r>
            <a:r>
              <a:rPr lang="pt-BR" sz="700" b="1" dirty="0" err="1">
                <a:solidFill>
                  <a:srgbClr val="0EA5E9"/>
                </a:solidFill>
              </a:rPr>
              <a:t>monitoradas  ·</a:t>
            </a:r>
            <a:r>
              <a:rPr lang="pt-BR" sz="700" b="1" dirty="0">
                <a:solidFill>
                  <a:srgbClr val="0EA5E9"/>
                </a:solidFill>
              </a:rPr>
              <a:t>  </a:t>
            </a:r>
            <a:r>
              <a:rPr lang="pt-BR" sz="700" dirty="0">
                <a:solidFill>
                  <a:srgbClr val="64748B"/>
                </a:solidFill>
              </a:rPr>
              <a:t>Última atualização: 11/05/2026 · </a:t>
            </a:r>
            <a:r>
              <a:rPr lang="pt-BR" sz="700" dirty="0" err="1">
                <a:solidFill>
                  <a:srgbClr val="64748B"/>
                </a:solidFill>
              </a:rPr>
              <a:t>08:42  ·</a:t>
            </a:r>
            <a:r>
              <a:rPr lang="pt-BR" sz="700" dirty="0">
                <a:solidFill>
                  <a:srgbClr val="64748B"/>
                </a:solidFill>
              </a:rPr>
              <a:t>  Oracle APEX + </a:t>
            </a:r>
            <a:r>
              <a:rPr lang="pt-BR" sz="700" dirty="0" err="1">
                <a:solidFill>
                  <a:srgbClr val="64748B"/>
                </a:solidFill>
              </a:rPr>
              <a:t>Select</a:t>
            </a:r>
            <a:r>
              <a:rPr lang="pt-BR" sz="700" dirty="0">
                <a:solidFill>
                  <a:srgbClr val="64748B"/>
                </a:solidFill>
              </a:rPr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43242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1A36"/>
          </a:solidFill>
          <a:ln w="12700">
            <a:solidFill>
              <a:srgbClr val="0891B2"/>
            </a:solidFill>
            <a:prstDash val="solid"/>
          </a:ln>
        </p:spPr>
        <p:txBody>
          <a:bodyPr lIns="91440" tIns="45720" rIns="91440" bIns="45720" anchor="t"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dirty="0">
                <a:solidFill>
                  <a:srgbClr val="FFFFFF"/>
                </a:solidFill>
              </a:rPr>
              <a:t>  </a:t>
            </a:r>
            <a:r>
              <a:rPr lang="en-US" sz="1500" b="1" dirty="0" err="1">
                <a:solidFill>
                  <a:srgbClr val="FFFFFF"/>
                </a:solidFill>
              </a:rPr>
              <a:t>Protótipo</a:t>
            </a:r>
            <a:r>
              <a:rPr lang="en-US" sz="1500" b="1" dirty="0">
                <a:solidFill>
                  <a:srgbClr val="FFFFFF"/>
                </a:solidFill>
              </a:rPr>
              <a:t> — Tela 2: </a:t>
            </a:r>
            <a:r>
              <a:rPr lang="en-US" sz="1500" b="1" dirty="0" err="1">
                <a:solidFill>
                  <a:srgbClr val="FFFFFF"/>
                </a:solidFill>
              </a:rPr>
              <a:t>Alerta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Ativo</a:t>
            </a:r>
            <a:r>
              <a:rPr lang="en-US" sz="1500" b="1" dirty="0">
                <a:solidFill>
                  <a:srgbClr val="FFFFFF"/>
                </a:solidFill>
              </a:rPr>
              <a:t> — </a:t>
            </a:r>
            <a:r>
              <a:rPr lang="en-US" sz="1500" b="1" dirty="0" err="1">
                <a:solidFill>
                  <a:srgbClr val="FFFFFF"/>
                </a:solidFill>
              </a:rPr>
              <a:t>Ação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Requerida</a:t>
            </a:r>
            <a:endParaRPr lang="en-US" sz="15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BG"/>
          <p:cNvSpPr>
            <a:spLocks noGrp="1"/>
          </p:cNvSpPr>
          <p:nvPr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" name="Banner"/>
          <p:cNvSpPr>
            <a:spLocks noGrp="1"/>
          </p:cNvSpPr>
          <p:nvPr/>
        </p:nvSpPr>
        <p:spPr>
          <a:xfrm>
            <a:off x="177800" y="787400"/>
            <a:ext cx="8788400" cy="381000"/>
          </a:xfrm>
          <a:prstGeom prst="roundRect">
            <a:avLst>
              <a:gd name="adj" fmla="val 3000"/>
            </a:avLst>
          </a:prstGeom>
          <a:gradFill>
            <a:gsLst>
              <a:gs pos="0">
                <a:srgbClr val="7F1D1D"/>
              </a:gs>
              <a:gs pos="100000">
                <a:srgbClr val="3B0A0A"/>
              </a:gs>
            </a:gsLst>
            <a:lin ang="0" scaled="0"/>
          </a:gradFill>
          <a:ln w="22860">
            <a:solidFill>
              <a:srgbClr val="EF4444"/>
            </a:solidFill>
          </a:ln>
        </p:spPr>
        <p:txBody>
          <a:bodyPr lIns="203200" anchor="ctr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FFFFFF"/>
                </a:solidFill>
              </a:rPr>
              <a:t>⚠  ALERTA CRÍTICO  </a:t>
            </a:r>
            <a:r>
              <a:rPr lang="pt-BR" sz="800" dirty="0">
                <a:solidFill>
                  <a:srgbClr val="FECACA"/>
                </a:solidFill>
              </a:rPr>
              <a:t>Risco de Colapso  ·  Zona Leste  ·  Previsão: 8 dias</a:t>
            </a:r>
          </a:p>
        </p:txBody>
      </p:sp>
      <p:sp>
        <p:nvSpPr>
          <p:cNvPr id="52" name="ColBG0"/>
          <p:cNvSpPr>
            <a:spLocks noGrp="1"/>
          </p:cNvSpPr>
          <p:nvPr/>
        </p:nvSpPr>
        <p:spPr>
          <a:xfrm>
            <a:off x="177800" y="1244600"/>
            <a:ext cx="2717800" cy="25654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0EA5E9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" name="ColTop0"/>
          <p:cNvSpPr>
            <a:spLocks noGrp="1"/>
          </p:cNvSpPr>
          <p:nvPr/>
        </p:nvSpPr>
        <p:spPr>
          <a:xfrm>
            <a:off x="177800" y="1244600"/>
            <a:ext cx="2717800" cy="63500"/>
          </a:xfrm>
          <a:prstGeom prst="roundRect">
            <a:avLst>
              <a:gd name="adj" fmla="val 2500"/>
            </a:avLst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ColHdrBG0"/>
          <p:cNvSpPr>
            <a:spLocks noGrp="1"/>
          </p:cNvSpPr>
          <p:nvPr/>
        </p:nvSpPr>
        <p:spPr>
          <a:xfrm>
            <a:off x="177800" y="1308100"/>
            <a:ext cx="2717800" cy="279400"/>
          </a:xfrm>
          <a:prstGeom prst="rect">
            <a:avLst/>
          </a:prstGeom>
          <a:solidFill>
            <a:srgbClr val="0C274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ColLbl0"/>
          <p:cNvSpPr>
            <a:spLocks noGrp="1"/>
          </p:cNvSpPr>
          <p:nvPr/>
        </p:nvSpPr>
        <p:spPr>
          <a:xfrm>
            <a:off x="279400" y="1308100"/>
            <a:ext cx="2514600" cy="2794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pt-BR" sz="750" b="1" dirty="0">
                <a:solidFill>
                  <a:srgbClr val="38BDF8"/>
                </a:solidFill>
              </a:rPr>
              <a:t>CONTEXTO</a:t>
            </a:r>
          </a:p>
        </p:txBody>
      </p:sp>
      <p:sp>
        <p:nvSpPr>
          <p:cNvPr id="56" name="ColDiv0"/>
          <p:cNvSpPr>
            <a:spLocks noGrp="1"/>
          </p:cNvSpPr>
          <p:nvPr/>
        </p:nvSpPr>
        <p:spPr>
          <a:xfrm>
            <a:off x="279400" y="1600200"/>
            <a:ext cx="2514600" cy="12700"/>
          </a:xfrm>
          <a:prstGeom prst="rect">
            <a:avLst/>
          </a:prstGeom>
          <a:solidFill>
            <a:srgbClr val="0EA5E9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ColBG1"/>
          <p:cNvSpPr>
            <a:spLocks noGrp="1"/>
          </p:cNvSpPr>
          <p:nvPr/>
        </p:nvSpPr>
        <p:spPr>
          <a:xfrm>
            <a:off x="2997200" y="1244600"/>
            <a:ext cx="2717800" cy="25654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F59E0B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8" name="ColTop1"/>
          <p:cNvSpPr>
            <a:spLocks noGrp="1"/>
          </p:cNvSpPr>
          <p:nvPr/>
        </p:nvSpPr>
        <p:spPr>
          <a:xfrm>
            <a:off x="2997200" y="1244600"/>
            <a:ext cx="2717800" cy="63500"/>
          </a:xfrm>
          <a:prstGeom prst="roundRect">
            <a:avLst>
              <a:gd name="adj" fmla="val 25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" name="ColHdrBG1"/>
          <p:cNvSpPr>
            <a:spLocks noGrp="1"/>
          </p:cNvSpPr>
          <p:nvPr/>
        </p:nvSpPr>
        <p:spPr>
          <a:xfrm>
            <a:off x="2997200" y="1308100"/>
            <a:ext cx="2717800" cy="279400"/>
          </a:xfrm>
          <a:prstGeom prst="rect">
            <a:avLst/>
          </a:prstGeom>
          <a:solidFill>
            <a:srgbClr val="2D1F07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" name="ColLbl1"/>
          <p:cNvSpPr>
            <a:spLocks noGrp="1"/>
          </p:cNvSpPr>
          <p:nvPr/>
        </p:nvSpPr>
        <p:spPr>
          <a:xfrm>
            <a:off x="3098800" y="1308100"/>
            <a:ext cx="2514600" cy="2794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pt-BR" sz="750" b="1" dirty="0">
                <a:solidFill>
                  <a:srgbClr val="FCD34D"/>
                </a:solidFill>
              </a:rPr>
              <a:t>INDICADORES</a:t>
            </a:r>
          </a:p>
        </p:txBody>
      </p:sp>
      <p:sp>
        <p:nvSpPr>
          <p:cNvPr id="61" name="ColDiv1"/>
          <p:cNvSpPr>
            <a:spLocks noGrp="1"/>
          </p:cNvSpPr>
          <p:nvPr/>
        </p:nvSpPr>
        <p:spPr>
          <a:xfrm>
            <a:off x="3098800" y="1600200"/>
            <a:ext cx="2514600" cy="12700"/>
          </a:xfrm>
          <a:prstGeom prst="rect">
            <a:avLst/>
          </a:prstGeom>
          <a:solidFill>
            <a:srgbClr val="F59E0B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2" name="ColBG2"/>
          <p:cNvSpPr>
            <a:spLocks noGrp="1"/>
          </p:cNvSpPr>
          <p:nvPr/>
        </p:nvSpPr>
        <p:spPr>
          <a:xfrm>
            <a:off x="5816600" y="1244600"/>
            <a:ext cx="3149600" cy="25654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22C55E">
                <a:alpha val="6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63" name="ColTop2"/>
          <p:cNvSpPr>
            <a:spLocks noGrp="1"/>
          </p:cNvSpPr>
          <p:nvPr/>
        </p:nvSpPr>
        <p:spPr>
          <a:xfrm>
            <a:off x="5816600" y="1244600"/>
            <a:ext cx="3149600" cy="63500"/>
          </a:xfrm>
          <a:prstGeom prst="roundRect">
            <a:avLst>
              <a:gd name="adj" fmla="val 2500"/>
            </a:avLst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ColHdrBG2"/>
          <p:cNvSpPr>
            <a:spLocks noGrp="1"/>
          </p:cNvSpPr>
          <p:nvPr/>
        </p:nvSpPr>
        <p:spPr>
          <a:xfrm>
            <a:off x="5816600" y="1308100"/>
            <a:ext cx="3149600" cy="27940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5" name="ColLbl2"/>
          <p:cNvSpPr>
            <a:spLocks noGrp="1"/>
          </p:cNvSpPr>
          <p:nvPr/>
        </p:nvSpPr>
        <p:spPr>
          <a:xfrm>
            <a:off x="5918200" y="1308100"/>
            <a:ext cx="2946400" cy="2794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>
              <a:buNone/>
            </a:pPr>
            <a:r>
              <a:rPr lang="pt-BR" sz="750" b="1" dirty="0">
                <a:solidFill>
                  <a:srgbClr val="4ADE80"/>
                </a:solidFill>
              </a:rPr>
              <a:t>AÇÃO RECOMENDADA</a:t>
            </a:r>
          </a:p>
        </p:txBody>
      </p:sp>
      <p:sp>
        <p:nvSpPr>
          <p:cNvPr id="66" name="ColDiv2"/>
          <p:cNvSpPr>
            <a:spLocks noGrp="1"/>
          </p:cNvSpPr>
          <p:nvPr/>
        </p:nvSpPr>
        <p:spPr>
          <a:xfrm>
            <a:off x="5918200" y="1600200"/>
            <a:ext cx="2946400" cy="12700"/>
          </a:xfrm>
          <a:prstGeom prst="rect">
            <a:avLst/>
          </a:prstGeom>
          <a:solidFill>
            <a:srgbClr val="22C55E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7" name="Ctx0"/>
          <p:cNvSpPr>
            <a:spLocks noGrp="1"/>
          </p:cNvSpPr>
          <p:nvPr/>
        </p:nvSpPr>
        <p:spPr>
          <a:xfrm>
            <a:off x="279400" y="16510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Região  </a:t>
            </a:r>
            <a:r>
              <a:rPr lang="pt-BR" sz="730" b="1" dirty="0">
                <a:solidFill>
                  <a:srgbClr val="94A3B8"/>
                </a:solidFill>
              </a:rPr>
              <a:t>Zona Leste — SP</a:t>
            </a:r>
          </a:p>
        </p:txBody>
      </p:sp>
      <p:sp>
        <p:nvSpPr>
          <p:cNvPr id="68" name="Ctx1"/>
          <p:cNvSpPr>
            <a:spLocks noGrp="1"/>
          </p:cNvSpPr>
          <p:nvPr/>
        </p:nvSpPr>
        <p:spPr>
          <a:xfrm>
            <a:off x="279400" y="20701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Período  </a:t>
            </a:r>
            <a:r>
              <a:rPr lang="pt-BR" sz="730" b="1" dirty="0">
                <a:solidFill>
                  <a:srgbClr val="94A3B8"/>
                </a:solidFill>
              </a:rPr>
              <a:t>11/05 → 19/05/2026</a:t>
            </a:r>
          </a:p>
        </p:txBody>
      </p:sp>
      <p:sp>
        <p:nvSpPr>
          <p:cNvPr id="69" name="Ctx2"/>
          <p:cNvSpPr>
            <a:spLocks noGrp="1"/>
          </p:cNvSpPr>
          <p:nvPr/>
        </p:nvSpPr>
        <p:spPr>
          <a:xfrm>
            <a:off x="279400" y="24892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Tendência  </a:t>
            </a:r>
            <a:r>
              <a:rPr lang="pt-BR" sz="730" b="1" dirty="0">
                <a:solidFill>
                  <a:srgbClr val="F87171"/>
                </a:solidFill>
              </a:rPr>
              <a:t>Alta progressiva</a:t>
            </a:r>
          </a:p>
        </p:txBody>
      </p:sp>
      <p:sp>
        <p:nvSpPr>
          <p:cNvPr id="70" name="Ctx3"/>
          <p:cNvSpPr>
            <a:spLocks noGrp="1"/>
          </p:cNvSpPr>
          <p:nvPr/>
        </p:nvSpPr>
        <p:spPr>
          <a:xfrm>
            <a:off x="279400" y="29083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Histórico  </a:t>
            </a:r>
            <a:r>
              <a:rPr lang="pt-BR" sz="730" b="1" dirty="0">
                <a:solidFill>
                  <a:srgbClr val="FCD34D"/>
                </a:solidFill>
              </a:rPr>
              <a:t>3 colapsos em 5 anos</a:t>
            </a:r>
          </a:p>
        </p:txBody>
      </p:sp>
      <p:sp>
        <p:nvSpPr>
          <p:cNvPr id="71" name="Ctx4"/>
          <p:cNvSpPr>
            <a:spLocks noGrp="1"/>
          </p:cNvSpPr>
          <p:nvPr/>
        </p:nvSpPr>
        <p:spPr>
          <a:xfrm>
            <a:off x="279400" y="33274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Ação prévia  </a:t>
            </a:r>
            <a:r>
              <a:rPr lang="pt-BR" sz="730" b="1" dirty="0">
                <a:solidFill>
                  <a:srgbClr val="94A3B8"/>
                </a:solidFill>
              </a:rPr>
              <a:t>Nenhuma ativada</a:t>
            </a:r>
          </a:p>
        </p:txBody>
      </p:sp>
      <p:sp>
        <p:nvSpPr>
          <p:cNvPr id="72" name="BTrack0"/>
          <p:cNvSpPr>
            <a:spLocks noGrp="1"/>
          </p:cNvSpPr>
          <p:nvPr/>
        </p:nvSpPr>
        <p:spPr>
          <a:xfrm>
            <a:off x="3098800" y="1892300"/>
            <a:ext cx="2362200" cy="63500"/>
          </a:xfrm>
          <a:prstGeom prst="roundRect">
            <a:avLst>
              <a:gd name="adj" fmla="val 50000"/>
            </a:avLst>
          </a:prstGeom>
          <a:solidFill>
            <a:srgbClr val="1E3A2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3" name="BFill0"/>
          <p:cNvSpPr>
            <a:spLocks noGrp="1"/>
          </p:cNvSpPr>
          <p:nvPr/>
        </p:nvSpPr>
        <p:spPr>
          <a:xfrm>
            <a:off x="3098800" y="1892300"/>
            <a:ext cx="2146300" cy="635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" name="Indic0"/>
          <p:cNvSpPr>
            <a:spLocks noGrp="1"/>
          </p:cNvSpPr>
          <p:nvPr/>
        </p:nvSpPr>
        <p:spPr>
          <a:xfrm>
            <a:off x="3098800" y="16510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64748B"/>
                </a:solidFill>
              </a:rPr>
              <a:t>Ocupação atual</a:t>
            </a:r>
            <a:r>
              <a:rPr lang="pt-BR" sz="800" b="1" dirty="0">
                <a:solidFill>
                  <a:srgbClr val="F87171"/>
                </a:solidFill>
              </a:rPr>
              <a:t>  91%</a:t>
            </a:r>
          </a:p>
        </p:txBody>
      </p:sp>
      <p:sp>
        <p:nvSpPr>
          <p:cNvPr id="75" name="BTrack1"/>
          <p:cNvSpPr>
            <a:spLocks noGrp="1"/>
          </p:cNvSpPr>
          <p:nvPr/>
        </p:nvSpPr>
        <p:spPr>
          <a:xfrm>
            <a:off x="3098800" y="2311400"/>
            <a:ext cx="2362200" cy="63500"/>
          </a:xfrm>
          <a:prstGeom prst="roundRect">
            <a:avLst>
              <a:gd name="adj" fmla="val 50000"/>
            </a:avLst>
          </a:prstGeom>
          <a:solidFill>
            <a:srgbClr val="1E3A2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6" name="BFill1"/>
          <p:cNvSpPr>
            <a:spLocks noGrp="1"/>
          </p:cNvSpPr>
          <p:nvPr/>
        </p:nvSpPr>
        <p:spPr>
          <a:xfrm>
            <a:off x="3098800" y="2311400"/>
            <a:ext cx="2286000" cy="635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7" name="Indic1"/>
          <p:cNvSpPr>
            <a:spLocks noGrp="1"/>
          </p:cNvSpPr>
          <p:nvPr/>
        </p:nvSpPr>
        <p:spPr>
          <a:xfrm>
            <a:off x="3098800" y="20701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64748B"/>
                </a:solidFill>
              </a:rPr>
              <a:t>Projeção em 8 dias</a:t>
            </a:r>
            <a:r>
              <a:rPr lang="pt-BR" sz="800" b="1" dirty="0">
                <a:solidFill>
                  <a:srgbClr val="F87171"/>
                </a:solidFill>
              </a:rPr>
              <a:t>  97%</a:t>
            </a:r>
          </a:p>
        </p:txBody>
      </p:sp>
      <p:sp>
        <p:nvSpPr>
          <p:cNvPr id="78" name="BTrack2"/>
          <p:cNvSpPr>
            <a:spLocks noGrp="1"/>
          </p:cNvSpPr>
          <p:nvPr/>
        </p:nvSpPr>
        <p:spPr>
          <a:xfrm>
            <a:off x="3098800" y="2730500"/>
            <a:ext cx="2362200" cy="63500"/>
          </a:xfrm>
          <a:prstGeom prst="roundRect">
            <a:avLst>
              <a:gd name="adj" fmla="val 50000"/>
            </a:avLst>
          </a:prstGeom>
          <a:solidFill>
            <a:srgbClr val="1E3A2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9" name="BFill2"/>
          <p:cNvSpPr>
            <a:spLocks noGrp="1"/>
          </p:cNvSpPr>
          <p:nvPr/>
        </p:nvSpPr>
        <p:spPr>
          <a:xfrm>
            <a:off x="3098800" y="2730500"/>
            <a:ext cx="2057400" cy="6350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0" name="Indic2"/>
          <p:cNvSpPr>
            <a:spLocks noGrp="1"/>
          </p:cNvSpPr>
          <p:nvPr/>
        </p:nvSpPr>
        <p:spPr>
          <a:xfrm>
            <a:off x="3098800" y="2489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64748B"/>
                </a:solidFill>
              </a:rPr>
              <a:t>Confiança do modelo</a:t>
            </a:r>
            <a:r>
              <a:rPr lang="pt-BR" sz="800" b="1" dirty="0">
                <a:solidFill>
                  <a:srgbClr val="4ADE80"/>
                </a:solidFill>
              </a:rPr>
              <a:t>  87%</a:t>
            </a:r>
          </a:p>
        </p:txBody>
      </p:sp>
      <p:sp>
        <p:nvSpPr>
          <p:cNvPr id="81" name="BTrack3"/>
          <p:cNvSpPr>
            <a:spLocks noGrp="1"/>
          </p:cNvSpPr>
          <p:nvPr/>
        </p:nvSpPr>
        <p:spPr>
          <a:xfrm>
            <a:off x="3098800" y="3149600"/>
            <a:ext cx="2362200" cy="63500"/>
          </a:xfrm>
          <a:prstGeom prst="roundRect">
            <a:avLst>
              <a:gd name="adj" fmla="val 50000"/>
            </a:avLst>
          </a:prstGeom>
          <a:solidFill>
            <a:srgbClr val="1E3A2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2" name="BFill3"/>
          <p:cNvSpPr>
            <a:spLocks noGrp="1"/>
          </p:cNvSpPr>
          <p:nvPr/>
        </p:nvSpPr>
        <p:spPr>
          <a:xfrm>
            <a:off x="3098800" y="3149600"/>
            <a:ext cx="1422400" cy="63500"/>
          </a:xfrm>
          <a:prstGeom prst="roundRect">
            <a:avLst>
              <a:gd name="adj" fmla="val 50000"/>
            </a:avLst>
          </a:prstGeom>
          <a:solidFill>
            <a:srgbClr val="FCD34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3" name="Indic3"/>
          <p:cNvSpPr>
            <a:spLocks noGrp="1"/>
          </p:cNvSpPr>
          <p:nvPr/>
        </p:nvSpPr>
        <p:spPr>
          <a:xfrm>
            <a:off x="3098800" y="29083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64748B"/>
                </a:solidFill>
              </a:rPr>
              <a:t>Temperatura</a:t>
            </a:r>
            <a:r>
              <a:rPr lang="pt-BR" sz="800" b="1" dirty="0">
                <a:solidFill>
                  <a:srgbClr val="FCD34D"/>
                </a:solidFill>
              </a:rPr>
              <a:t>  &lt; 14°C</a:t>
            </a:r>
          </a:p>
        </p:txBody>
      </p:sp>
      <p:sp>
        <p:nvSpPr>
          <p:cNvPr id="84" name="BTrack4"/>
          <p:cNvSpPr>
            <a:spLocks noGrp="1"/>
          </p:cNvSpPr>
          <p:nvPr/>
        </p:nvSpPr>
        <p:spPr>
          <a:xfrm>
            <a:off x="3098800" y="3568700"/>
            <a:ext cx="2362200" cy="63500"/>
          </a:xfrm>
          <a:prstGeom prst="roundRect">
            <a:avLst>
              <a:gd name="adj" fmla="val 50000"/>
            </a:avLst>
          </a:prstGeom>
          <a:solidFill>
            <a:srgbClr val="1E3A2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5" name="BFill4"/>
          <p:cNvSpPr>
            <a:spLocks noGrp="1"/>
          </p:cNvSpPr>
          <p:nvPr/>
        </p:nvSpPr>
        <p:spPr>
          <a:xfrm>
            <a:off x="3098800" y="3568700"/>
            <a:ext cx="1778000" cy="63500"/>
          </a:xfrm>
          <a:prstGeom prst="roundRect">
            <a:avLst>
              <a:gd name="adj" fmla="val 50000"/>
            </a:avLst>
          </a:prstGeom>
          <a:solidFill>
            <a:srgbClr val="FCD34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6" name="Indic4"/>
          <p:cNvSpPr>
            <a:spLocks noGrp="1"/>
          </p:cNvSpPr>
          <p:nvPr/>
        </p:nvSpPr>
        <p:spPr>
          <a:xfrm>
            <a:off x="3098800" y="33274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64748B"/>
                </a:solidFill>
              </a:rPr>
              <a:t>Influenza A</a:t>
            </a:r>
            <a:r>
              <a:rPr lang="pt-BR" sz="800" b="1" dirty="0">
                <a:solidFill>
                  <a:srgbClr val="FCD34D"/>
                </a:solidFill>
              </a:rPr>
              <a:t>  +32%</a:t>
            </a:r>
          </a:p>
        </p:txBody>
      </p:sp>
      <p:sp>
        <p:nvSpPr>
          <p:cNvPr id="87" name="ActTxt"/>
          <p:cNvSpPr>
            <a:spLocks noGrp="1"/>
          </p:cNvSpPr>
          <p:nvPr/>
        </p:nvSpPr>
        <p:spPr>
          <a:xfrm>
            <a:off x="5918200" y="1651000"/>
            <a:ext cx="29464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buNone/>
            </a:pPr>
            <a:r>
              <a:rPr lang="pt-BR" sz="800" dirty="0">
                <a:solidFill>
                  <a:srgbClr val="CBD5E1"/>
                </a:solidFill>
              </a:rPr>
              <a:t>Ativar protocolo de expansão de 40 leitos temporários — UPA Penha e Hospital São Lucas.</a:t>
            </a:r>
          </a:p>
        </p:txBody>
      </p:sp>
      <p:sp>
        <p:nvSpPr>
          <p:cNvPr id="88" name="Chip0"/>
          <p:cNvSpPr>
            <a:spLocks noGrp="1"/>
          </p:cNvSpPr>
          <p:nvPr/>
        </p:nvSpPr>
        <p:spPr>
          <a:xfrm>
            <a:off x="5922963" y="2246313"/>
            <a:ext cx="2946400" cy="330200"/>
          </a:xfrm>
          <a:prstGeom prst="roundRect">
            <a:avLst>
              <a:gd name="adj" fmla="val 5000"/>
            </a:avLst>
          </a:prstGeom>
          <a:solidFill>
            <a:srgbClr val="2D1F07"/>
          </a:solidFill>
          <a:ln w="9525">
            <a:solidFill>
              <a:srgbClr val="F59E0B">
                <a:alpha val="50000"/>
              </a:srgbClr>
            </a:solidFill>
          </a:ln>
        </p:spPr>
        <p:txBody>
          <a:bodyPr lIns="127000"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Prazo  </a:t>
            </a:r>
            <a:r>
              <a:rPr lang="pt-BR" sz="800" b="1" dirty="0">
                <a:solidFill>
                  <a:srgbClr val="F59E0B"/>
                </a:solidFill>
              </a:rPr>
              <a:t>48 horas</a:t>
            </a:r>
          </a:p>
        </p:txBody>
      </p:sp>
      <p:sp>
        <p:nvSpPr>
          <p:cNvPr id="89" name="Chip1"/>
          <p:cNvSpPr>
            <a:spLocks noGrp="1"/>
          </p:cNvSpPr>
          <p:nvPr/>
        </p:nvSpPr>
        <p:spPr>
          <a:xfrm>
            <a:off x="5918200" y="2765425"/>
            <a:ext cx="2946400" cy="330200"/>
          </a:xfrm>
          <a:prstGeom prst="roundRect">
            <a:avLst>
              <a:gd name="adj" fmla="val 5000"/>
            </a:avLst>
          </a:prstGeom>
          <a:solidFill>
            <a:srgbClr val="052E16"/>
          </a:solidFill>
          <a:ln w="9525">
            <a:solidFill>
              <a:srgbClr val="4ADE80">
                <a:alpha val="50000"/>
              </a:srgbClr>
            </a:solidFill>
          </a:ln>
        </p:spPr>
        <p:txBody>
          <a:bodyPr lIns="127000"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Custo  </a:t>
            </a:r>
            <a:r>
              <a:rPr lang="pt-BR" sz="800" b="1" dirty="0">
                <a:solidFill>
                  <a:srgbClr val="4ADE80"/>
                </a:solidFill>
              </a:rPr>
              <a:t>R$ 120k</a:t>
            </a:r>
          </a:p>
        </p:txBody>
      </p:sp>
      <p:sp>
        <p:nvSpPr>
          <p:cNvPr id="90" name="Chip2"/>
          <p:cNvSpPr>
            <a:spLocks noGrp="1"/>
          </p:cNvSpPr>
          <p:nvPr/>
        </p:nvSpPr>
        <p:spPr>
          <a:xfrm>
            <a:off x="5918200" y="3275013"/>
            <a:ext cx="2946400" cy="330200"/>
          </a:xfrm>
          <a:prstGeom prst="roundRect">
            <a:avLst>
              <a:gd name="adj" fmla="val 5000"/>
            </a:avLst>
          </a:prstGeom>
          <a:solidFill>
            <a:srgbClr val="082F49"/>
          </a:solidFill>
          <a:ln w="9525">
            <a:solidFill>
              <a:srgbClr val="38BDF8">
                <a:alpha val="50000"/>
              </a:srgbClr>
            </a:solidFill>
          </a:ln>
        </p:spPr>
        <p:txBody>
          <a:bodyPr lIns="127000" anchor="ctr">
            <a:noAutofit/>
          </a:bodyPr>
          <a:lstStyle/>
          <a:p>
            <a:pPr>
              <a:buNone/>
            </a:pPr>
            <a:r>
              <a:rPr lang="pt-BR" sz="680" dirty="0">
                <a:solidFill>
                  <a:srgbClr val="475569"/>
                </a:solidFill>
              </a:rPr>
              <a:t>Unidades  </a:t>
            </a:r>
            <a:r>
              <a:rPr lang="pt-BR" sz="800" b="1" dirty="0">
                <a:solidFill>
                  <a:srgbClr val="38BDF8"/>
                </a:solidFill>
              </a:rPr>
              <a:t>2 hospitais</a:t>
            </a:r>
          </a:p>
        </p:txBody>
      </p:sp>
      <p:sp>
        <p:nvSpPr>
          <p:cNvPr id="91" name="BtnA"/>
          <p:cNvSpPr>
            <a:spLocks noGrp="1"/>
          </p:cNvSpPr>
          <p:nvPr/>
        </p:nvSpPr>
        <p:spPr>
          <a:xfrm>
            <a:off x="177800" y="3924300"/>
            <a:ext cx="4292600" cy="4572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16A34A"/>
              </a:gs>
              <a:gs pos="100000">
                <a:srgbClr val="15803D"/>
              </a:gs>
            </a:gsLst>
            <a:lin ang="5400000" scaled="0"/>
          </a:gradFill>
          <a:ln w="12700">
            <a:solidFill>
              <a:srgbClr val="4ADE80"/>
            </a:solidFill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920" b="1" dirty="0">
                <a:solidFill>
                  <a:srgbClr val="FFFFFF"/>
                </a:solidFill>
              </a:rPr>
              <a:t>APROVAR E NOTIFICAR UNIDADES</a:t>
            </a:r>
          </a:p>
        </p:txBody>
      </p:sp>
      <p:sp>
        <p:nvSpPr>
          <p:cNvPr id="92" name="BtnB"/>
          <p:cNvSpPr>
            <a:spLocks noGrp="1"/>
          </p:cNvSpPr>
          <p:nvPr/>
        </p:nvSpPr>
        <p:spPr>
          <a:xfrm>
            <a:off x="4572000" y="3924300"/>
            <a:ext cx="4394200" cy="457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anchor="ctr" anchorCtr="1">
            <a:noAutofit/>
          </a:bodyPr>
          <a:lstStyle/>
          <a:p>
            <a:pPr algn="ctr">
              <a:buNone/>
            </a:pPr>
            <a:r>
              <a:rPr lang="pt-BR" sz="920" b="1" dirty="0">
                <a:solidFill>
                  <a:srgbClr val="64748B"/>
                </a:solidFill>
              </a:rPr>
              <a:t>SOLICITAR REVISÃO AO MODELO</a:t>
            </a:r>
          </a:p>
        </p:txBody>
      </p:sp>
      <p:sp>
        <p:nvSpPr>
          <p:cNvPr id="93" name="Footer"/>
          <p:cNvSpPr>
            <a:spLocks noGrp="1"/>
          </p:cNvSpPr>
          <p:nvPr/>
        </p:nvSpPr>
        <p:spPr>
          <a:xfrm>
            <a:off x="177800" y="4470400"/>
            <a:ext cx="8788400" cy="558800"/>
          </a:xfrm>
          <a:prstGeom prst="roundRect">
            <a:avLst>
              <a:gd name="adj" fmla="val 2000"/>
            </a:avLst>
          </a:prstGeom>
          <a:solidFill>
            <a:srgbClr val="161F2E"/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lIns="177800" anchor="ctr">
            <a:noAutofit/>
          </a:bodyPr>
          <a:lstStyle/>
          <a:p>
            <a:pPr algn="ctr">
              <a:buNone/>
            </a:pPr>
            <a:r>
              <a:rPr lang="pt-BR" sz="700" i="1" dirty="0">
                <a:solidFill>
                  <a:srgbClr val="475569"/>
                </a:solidFill>
              </a:rPr>
              <a:t>"O sistema detecta o risco, apresenta o contexto e o gestor decide com 1 clique."</a:t>
            </a:r>
            <a:r>
              <a:rPr lang="pt-BR" sz="700" dirty="0">
                <a:solidFill>
                  <a:srgbClr val="334155"/>
                </a:solidFill>
              </a:rPr>
              <a:t>  ·  Prophet + OCI Data Science + Oracle APEX</a:t>
            </a:r>
          </a:p>
        </p:txBody>
      </p:sp>
    </p:spTree>
    <p:extLst>
      <p:ext uri="{BB962C8B-B14F-4D97-AF65-F5344CB8AC3E}">
        <p14:creationId xmlns:p14="http://schemas.microsoft.com/office/powerpoint/2010/main" val="400755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3ECBB63A-1B00-4204-8A35-92CEA8F3D4A4}"/>
              </a:ext>
            </a:extLst>
          </p:cNvPr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C1A3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83C9C7C-C5E5-47F2-851A-8D69DD43CB80}"/>
              </a:ext>
            </a:extLst>
          </p:cNvPr>
          <p:cNvSpPr txBox="1"/>
          <p:nvPr/>
        </p:nvSpPr>
        <p:spPr>
          <a:xfrm>
            <a:off x="203200" y="127000"/>
            <a:ext cx="685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>
                <a:solidFill>
                  <a:srgbClr val="94A3B8"/>
                </a:solidFill>
              </a:rPr>
              <a:t>PREVISÃO DE DEMANDA HOSPITALAR · São Paulo · CROSS/SP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205F271-96D8-428E-A74B-E50C8395BBAF}"/>
              </a:ext>
            </a:extLst>
          </p:cNvPr>
          <p:cNvSpPr txBox="1"/>
          <p:nvPr/>
        </p:nvSpPr>
        <p:spPr>
          <a:xfrm>
            <a:off x="254000" y="736600"/>
            <a:ext cx="8636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200" b="1">
                <a:solidFill>
                  <a:srgbClr val="F1F5F9"/>
                </a:solidFill>
              </a:rPr>
              <a:t>Previsão de Demanda: +23% nas Próximas 4 Semanas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438944A-76B5-43DC-894A-301340731A20}"/>
              </a:ext>
            </a:extLst>
          </p:cNvPr>
          <p:cNvSpPr txBox="1"/>
          <p:nvPr/>
        </p:nvSpPr>
        <p:spPr>
          <a:xfrm>
            <a:off x="254000" y="1181100"/>
            <a:ext cx="863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>
                <a:solidFill>
                  <a:srgbClr val="64748B"/>
                </a:solidFill>
              </a:rPr>
              <a:t>Baseado em dados históricos 2018–2025 · Prophet v1.1 · OCI Data Science · Atualizado em 13/07/2026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D26F850-00BE-4A80-8BE6-006AF658B480}"/>
              </a:ext>
            </a:extLst>
          </p:cNvPr>
          <p:cNvSpPr/>
          <p:nvPr/>
        </p:nvSpPr>
        <p:spPr>
          <a:xfrm>
            <a:off x="254000" y="1549400"/>
            <a:ext cx="2171700" cy="10160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21BD458-6125-470F-B50B-E572EE92C64D}"/>
              </a:ext>
            </a:extLst>
          </p:cNvPr>
          <p:cNvSpPr/>
          <p:nvPr/>
        </p:nvSpPr>
        <p:spPr>
          <a:xfrm>
            <a:off x="254000" y="1549400"/>
            <a:ext cx="50800" cy="1016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BBE1E8D-3592-460D-B9CD-A944BF1FA80C}"/>
              </a:ext>
            </a:extLst>
          </p:cNvPr>
          <p:cNvSpPr txBox="1"/>
          <p:nvPr/>
        </p:nvSpPr>
        <p:spPr>
          <a:xfrm>
            <a:off x="406400" y="1651000"/>
            <a:ext cx="19177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Pico Previsto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CFE6B9D9-419B-46C2-9AF9-224FC62E02E1}"/>
              </a:ext>
            </a:extLst>
          </p:cNvPr>
          <p:cNvSpPr txBox="1"/>
          <p:nvPr/>
        </p:nvSpPr>
        <p:spPr>
          <a:xfrm>
            <a:off x="406400" y="1854200"/>
            <a:ext cx="19177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200" b="1">
                <a:solidFill>
                  <a:srgbClr val="3B82F6"/>
                </a:solidFill>
              </a:rPr>
              <a:t>14/07/2026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18EB35-E8CC-413F-B27F-E288EE6BC346}"/>
              </a:ext>
            </a:extLst>
          </p:cNvPr>
          <p:cNvSpPr txBox="1"/>
          <p:nvPr/>
        </p:nvSpPr>
        <p:spPr>
          <a:xfrm>
            <a:off x="406400" y="2197100"/>
            <a:ext cx="19177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Próxima segunda-feira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B00F7D62-71A2-403B-A74D-809CF29E9839}"/>
              </a:ext>
            </a:extLst>
          </p:cNvPr>
          <p:cNvSpPr/>
          <p:nvPr/>
        </p:nvSpPr>
        <p:spPr>
          <a:xfrm>
            <a:off x="2501900" y="1549400"/>
            <a:ext cx="2171700" cy="10160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04E76F5-FA0B-4C42-8D85-3FB1AA44F175}"/>
              </a:ext>
            </a:extLst>
          </p:cNvPr>
          <p:cNvSpPr/>
          <p:nvPr/>
        </p:nvSpPr>
        <p:spPr>
          <a:xfrm>
            <a:off x="2501900" y="1549400"/>
            <a:ext cx="50800" cy="10160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4390506-507B-4F63-86FD-E8493BEA880F}"/>
              </a:ext>
            </a:extLst>
          </p:cNvPr>
          <p:cNvSpPr txBox="1"/>
          <p:nvPr/>
        </p:nvSpPr>
        <p:spPr>
          <a:xfrm>
            <a:off x="2654300" y="1651000"/>
            <a:ext cx="19177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Ocupação Máx.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291835D-7073-474F-B744-45ACA642342F}"/>
              </a:ext>
            </a:extLst>
          </p:cNvPr>
          <p:cNvSpPr txBox="1"/>
          <p:nvPr/>
        </p:nvSpPr>
        <p:spPr>
          <a:xfrm>
            <a:off x="2654300" y="1854200"/>
            <a:ext cx="19177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200" b="1">
                <a:solidFill>
                  <a:srgbClr val="EF4444"/>
                </a:solidFill>
              </a:rPr>
              <a:t>95%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CCF4906-7E62-48DD-9501-CCB89634D5EB}"/>
              </a:ext>
            </a:extLst>
          </p:cNvPr>
          <p:cNvSpPr txBox="1"/>
          <p:nvPr/>
        </p:nvSpPr>
        <p:spPr>
          <a:xfrm>
            <a:off x="2654300" y="2197100"/>
            <a:ext cx="19177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Leitos clínicos SP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D7B3CC0-78E4-4902-8D94-2B87F84F8F71}"/>
              </a:ext>
            </a:extLst>
          </p:cNvPr>
          <p:cNvSpPr/>
          <p:nvPr/>
        </p:nvSpPr>
        <p:spPr>
          <a:xfrm>
            <a:off x="4749800" y="1549400"/>
            <a:ext cx="2171700" cy="10160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E4AD6A97-2141-48E7-867C-2FCE5ECAFEC5}"/>
              </a:ext>
            </a:extLst>
          </p:cNvPr>
          <p:cNvSpPr/>
          <p:nvPr/>
        </p:nvSpPr>
        <p:spPr>
          <a:xfrm>
            <a:off x="4749800" y="1549400"/>
            <a:ext cx="50800" cy="10160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89EB7A5-4402-446E-A1D7-C23DCDC86F6F}"/>
              </a:ext>
            </a:extLst>
          </p:cNvPr>
          <p:cNvSpPr txBox="1"/>
          <p:nvPr/>
        </p:nvSpPr>
        <p:spPr>
          <a:xfrm>
            <a:off x="4902200" y="1651000"/>
            <a:ext cx="19177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Conf. do Modelo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D53E8BB1-8BB1-40AB-B083-7796F5E09AF0}"/>
              </a:ext>
            </a:extLst>
          </p:cNvPr>
          <p:cNvSpPr txBox="1"/>
          <p:nvPr/>
        </p:nvSpPr>
        <p:spPr>
          <a:xfrm>
            <a:off x="4902200" y="1854200"/>
            <a:ext cx="19177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200" b="1">
                <a:solidFill>
                  <a:srgbClr val="22C55E"/>
                </a:solidFill>
              </a:rPr>
              <a:t>87%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6B0AABD-E4A4-4F21-82BE-3A280DC76E09}"/>
              </a:ext>
            </a:extLst>
          </p:cNvPr>
          <p:cNvSpPr txBox="1"/>
          <p:nvPr/>
        </p:nvSpPr>
        <p:spPr>
          <a:xfrm>
            <a:off x="4902200" y="2197100"/>
            <a:ext cx="19177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Intervalo de confiança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A82C4ED-9BF1-4EFC-B9FF-AF8823EB7F28}"/>
              </a:ext>
            </a:extLst>
          </p:cNvPr>
          <p:cNvSpPr/>
          <p:nvPr/>
        </p:nvSpPr>
        <p:spPr>
          <a:xfrm>
            <a:off x="6997700" y="1549400"/>
            <a:ext cx="2171700" cy="10160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A1D45DA-D737-427B-810B-32FFFF180FC4}"/>
              </a:ext>
            </a:extLst>
          </p:cNvPr>
          <p:cNvSpPr/>
          <p:nvPr/>
        </p:nvSpPr>
        <p:spPr>
          <a:xfrm>
            <a:off x="6997700" y="1549400"/>
            <a:ext cx="50800" cy="1016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26046FF-E421-4643-B316-EF0990C0C770}"/>
              </a:ext>
            </a:extLst>
          </p:cNvPr>
          <p:cNvSpPr txBox="1"/>
          <p:nvPr/>
        </p:nvSpPr>
        <p:spPr>
          <a:xfrm>
            <a:off x="7150100" y="1651000"/>
            <a:ext cx="19177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Variação Sazonal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9C02BFB-FE7B-4B78-A534-373A28118783}"/>
              </a:ext>
            </a:extLst>
          </p:cNvPr>
          <p:cNvSpPr txBox="1"/>
          <p:nvPr/>
        </p:nvSpPr>
        <p:spPr>
          <a:xfrm>
            <a:off x="7150100" y="1854200"/>
            <a:ext cx="19177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200" b="1">
                <a:solidFill>
                  <a:srgbClr val="F59E0B"/>
                </a:solidFill>
              </a:rPr>
              <a:t>+12 p.p.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6B49A0A-5038-4A56-8FC3-15A8B3DC0900}"/>
              </a:ext>
            </a:extLst>
          </p:cNvPr>
          <p:cNvSpPr txBox="1"/>
          <p:nvPr/>
        </p:nvSpPr>
        <p:spPr>
          <a:xfrm>
            <a:off x="7150100" y="2197100"/>
            <a:ext cx="19177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800">
                <a:solidFill>
                  <a:srgbClr val="64748B"/>
                </a:solidFill>
              </a:rPr>
              <a:t>vs. mesma semana 2025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1E1F25B3-E71D-4995-AEEA-4F27480E4DFF}"/>
              </a:ext>
            </a:extLst>
          </p:cNvPr>
          <p:cNvSpPr/>
          <p:nvPr/>
        </p:nvSpPr>
        <p:spPr>
          <a:xfrm>
            <a:off x="254000" y="2692400"/>
            <a:ext cx="5918200" cy="22606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CA74FCDE-DFA0-44FB-BB86-C6DABEA9487E}"/>
              </a:ext>
            </a:extLst>
          </p:cNvPr>
          <p:cNvSpPr txBox="1"/>
          <p:nvPr/>
        </p:nvSpPr>
        <p:spPr>
          <a:xfrm>
            <a:off x="406400" y="27940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>
                <a:solidFill>
                  <a:srgbClr val="E2E8F0"/>
                </a:solidFill>
              </a:rPr>
              <a:t>Internações Previstas — Próximas 4 Semanas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90692EB-72D3-4BB0-B9FB-2DD384EA679E}"/>
              </a:ext>
            </a:extLst>
          </p:cNvPr>
          <p:cNvSpPr txBox="1"/>
          <p:nvPr/>
        </p:nvSpPr>
        <p:spPr>
          <a:xfrm>
            <a:off x="406400" y="30226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64748B"/>
                </a:solidFill>
              </a:rPr>
              <a:t>Jul 14 · Jul 21 · Jul 28 · Ago 4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DA9D5DDF-20A5-47A3-A7F8-FD1A31164674}"/>
              </a:ext>
            </a:extLst>
          </p:cNvPr>
          <p:cNvSpPr/>
          <p:nvPr/>
        </p:nvSpPr>
        <p:spPr>
          <a:xfrm>
            <a:off x="762000" y="3848100"/>
            <a:ext cx="762000" cy="914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9120C38-E893-4FB8-847C-D676CBAC074F}"/>
              </a:ext>
            </a:extLst>
          </p:cNvPr>
          <p:cNvSpPr txBox="1"/>
          <p:nvPr/>
        </p:nvSpPr>
        <p:spPr>
          <a:xfrm>
            <a:off x="762000" y="35941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F59E0B"/>
                </a:solidFill>
              </a:rPr>
              <a:t>72%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39BAE14A-D774-4104-A295-DC32E866F13A}"/>
              </a:ext>
            </a:extLst>
          </p:cNvPr>
          <p:cNvSpPr/>
          <p:nvPr/>
        </p:nvSpPr>
        <p:spPr>
          <a:xfrm>
            <a:off x="1905000" y="3556000"/>
            <a:ext cx="762000" cy="12065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C8BACB3-7A04-48ED-BD28-6EC01116B3D4}"/>
              </a:ext>
            </a:extLst>
          </p:cNvPr>
          <p:cNvSpPr txBox="1"/>
          <p:nvPr/>
        </p:nvSpPr>
        <p:spPr>
          <a:xfrm>
            <a:off x="1905000" y="33020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EF4444"/>
                </a:solidFill>
              </a:rPr>
              <a:t>95%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45092209-C454-45DE-B030-ADEC1B4F8167}"/>
              </a:ext>
            </a:extLst>
          </p:cNvPr>
          <p:cNvSpPr/>
          <p:nvPr/>
        </p:nvSpPr>
        <p:spPr>
          <a:xfrm>
            <a:off x="3048000" y="3683000"/>
            <a:ext cx="762000" cy="10795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B9FAF53-504B-4701-8BAB-8D181747193D}"/>
              </a:ext>
            </a:extLst>
          </p:cNvPr>
          <p:cNvSpPr txBox="1"/>
          <p:nvPr/>
        </p:nvSpPr>
        <p:spPr>
          <a:xfrm>
            <a:off x="3048000" y="34290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F59E0B"/>
                </a:solidFill>
              </a:rPr>
              <a:t>85%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C37F1AD-28BF-4D46-B3CD-EC3F20553B86}"/>
              </a:ext>
            </a:extLst>
          </p:cNvPr>
          <p:cNvSpPr/>
          <p:nvPr/>
        </p:nvSpPr>
        <p:spPr>
          <a:xfrm>
            <a:off x="4191000" y="3898900"/>
            <a:ext cx="762000" cy="8636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F2AB6300-C229-4BA4-B5C4-60D218F1E147}"/>
              </a:ext>
            </a:extLst>
          </p:cNvPr>
          <p:cNvSpPr txBox="1"/>
          <p:nvPr/>
        </p:nvSpPr>
        <p:spPr>
          <a:xfrm>
            <a:off x="4191000" y="36449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22C55E"/>
                </a:solidFill>
              </a:rPr>
              <a:t>68%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A0BD66A1-C8F5-4941-8C24-53F4F9450D4E}"/>
              </a:ext>
            </a:extLst>
          </p:cNvPr>
          <p:cNvSpPr/>
          <p:nvPr/>
        </p:nvSpPr>
        <p:spPr>
          <a:xfrm>
            <a:off x="6273800" y="2692400"/>
            <a:ext cx="2616200" cy="1066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A69D2F1F-C0E8-4ACC-A0CB-6FDC951BBCD4}"/>
              </a:ext>
            </a:extLst>
          </p:cNvPr>
          <p:cNvSpPr/>
          <p:nvPr/>
        </p:nvSpPr>
        <p:spPr>
          <a:xfrm>
            <a:off x="6273800" y="2692400"/>
            <a:ext cx="50800" cy="1066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DDE2E2B-36FD-44A8-B124-6A17F4D76C87}"/>
              </a:ext>
            </a:extLst>
          </p:cNvPr>
          <p:cNvSpPr txBox="1"/>
          <p:nvPr/>
        </p:nvSpPr>
        <p:spPr>
          <a:xfrm>
            <a:off x="6400800" y="27940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E2E8F0"/>
                </a:solidFill>
              </a:rPr>
              <a:t>Semanas de Maior Risco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2242879-7F80-4E36-A539-E4F9B41954FA}"/>
              </a:ext>
            </a:extLst>
          </p:cNvPr>
          <p:cNvSpPr txBox="1"/>
          <p:nvPr/>
        </p:nvSpPr>
        <p:spPr>
          <a:xfrm>
            <a:off x="6400800" y="30226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• Semana 2: 14–20 Jul (CRÍTICO)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235329F8-578D-4521-A8C5-17B931B4F771}"/>
              </a:ext>
            </a:extLst>
          </p:cNvPr>
          <p:cNvSpPr txBox="1"/>
          <p:nvPr/>
        </p:nvSpPr>
        <p:spPr>
          <a:xfrm>
            <a:off x="6400800" y="32385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• Semana 3: 21–27 Jul (ALTO)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D5BAFAE-2335-4875-8BBF-64DBD5D5C39A}"/>
              </a:ext>
            </a:extLst>
          </p:cNvPr>
          <p:cNvSpPr txBox="1"/>
          <p:nvPr/>
        </p:nvSpPr>
        <p:spPr>
          <a:xfrm>
            <a:off x="6400800" y="345440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• Semana 1: 7–13 Jul (MODERADO)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3C00A158-D45B-4788-90B8-FD47E32207E0}"/>
              </a:ext>
            </a:extLst>
          </p:cNvPr>
          <p:cNvSpPr/>
          <p:nvPr/>
        </p:nvSpPr>
        <p:spPr>
          <a:xfrm>
            <a:off x="6273800" y="3848100"/>
            <a:ext cx="2616200" cy="10668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0973CF2D-6CC6-4E38-B664-D8F4B1A6DF4E}"/>
              </a:ext>
            </a:extLst>
          </p:cNvPr>
          <p:cNvSpPr/>
          <p:nvPr/>
        </p:nvSpPr>
        <p:spPr>
          <a:xfrm>
            <a:off x="6273800" y="3848100"/>
            <a:ext cx="50800" cy="10668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9DE486A-F1F1-4B86-BB51-ED2AB47E8314}"/>
              </a:ext>
            </a:extLst>
          </p:cNvPr>
          <p:cNvSpPr txBox="1"/>
          <p:nvPr/>
        </p:nvSpPr>
        <p:spPr>
          <a:xfrm>
            <a:off x="6438900" y="3897312"/>
            <a:ext cx="2413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E2E8F0"/>
                </a:solidFill>
              </a:rPr>
              <a:t>Ações Recomendadas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5EEBCA2-E0D5-40B5-B4CE-99EB3C21E98E}"/>
              </a:ext>
            </a:extLst>
          </p:cNvPr>
          <p:cNvSpPr txBox="1"/>
          <p:nvPr/>
        </p:nvSpPr>
        <p:spPr>
          <a:xfrm>
            <a:off x="6400800" y="4546600"/>
            <a:ext cx="2413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• Abrir 45 leitos adicionais até 13/Jul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E5455DFE-91A2-4324-A76A-8E99E8769294}"/>
              </a:ext>
            </a:extLst>
          </p:cNvPr>
          <p:cNvSpPr txBox="1"/>
          <p:nvPr/>
        </p:nvSpPr>
        <p:spPr>
          <a:xfrm>
            <a:off x="6400800" y="4159250"/>
            <a:ext cx="241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• Acionar plano de contingência SP-Sul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D856D38-EE1E-4E96-B904-FD2FA6C39128}"/>
              </a:ext>
            </a:extLst>
          </p:cNvPr>
          <p:cNvSpPr txBox="1"/>
          <p:nvPr/>
        </p:nvSpPr>
        <p:spPr>
          <a:xfrm>
            <a:off x="6400800" y="4343400"/>
            <a:ext cx="2413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>
                <a:solidFill>
                  <a:srgbClr val="94A3B8"/>
                </a:solidFill>
              </a:rPr>
              <a:t>• Alertar hospitais conveniados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85C9107-135F-45B5-A12A-43D49D7C2028}"/>
              </a:ext>
            </a:extLst>
          </p:cNvPr>
          <p:cNvSpPr txBox="1"/>
          <p:nvPr/>
        </p:nvSpPr>
        <p:spPr>
          <a:xfrm>
            <a:off x="406400" y="49276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>
                <a:solidFill>
                  <a:srgbClr val="FCA5A5"/>
                </a:solidFill>
              </a:rPr>
              <a:t>⚠  ALERTA CRÍTICO: Pico previsto para 14/07/2026. Capacidade atual insuficiente em 12 hospitais da Zona Leste. Ação imediata requerida.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DCA1B144-3D6E-4D92-9160-4186E2DCAF37}"/>
              </a:ext>
            </a:extLst>
          </p:cNvPr>
          <p:cNvSpPr/>
          <p:nvPr/>
        </p:nvSpPr>
        <p:spPr>
          <a:xfrm>
            <a:off x="0" y="4927600"/>
            <a:ext cx="9144000" cy="254000"/>
          </a:xfrm>
          <a:prstGeom prst="rect">
            <a:avLst/>
          </a:prstGeom>
          <a:solidFill>
            <a:srgbClr val="0D152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CDC685A7-79D2-4681-9319-E1905AB05C10}"/>
              </a:ext>
            </a:extLst>
          </p:cNvPr>
          <p:cNvSpPr txBox="1"/>
          <p:nvPr/>
        </p:nvSpPr>
        <p:spPr>
          <a:xfrm>
            <a:off x="203200" y="4927600"/>
            <a:ext cx="8737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800">
                <a:solidFill>
                  <a:srgbClr val="475569"/>
                </a:solidFill>
              </a:rPr>
              <a:t>Prophet v1.1 · OCI Data Science · Oracle ADB · Atualizado: 13/07/2026 às 06:00 · CROSS/SP — Secretaria de Saúde do Estado de São Paulo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-71438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HeaderBG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" name="HeaderAccent"/>
          <p:cNvSpPr/>
          <p:nvPr/>
        </p:nvSpPr>
        <p:spPr>
          <a:xfrm>
            <a:off x="0" y="0"/>
            <a:ext cx="50800" cy="609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4" name="NumText"/>
          <p:cNvSpPr>
            <a:spLocks noGrp="1"/>
          </p:cNvSpPr>
          <p:nvPr/>
        </p:nvSpPr>
        <p:spPr>
          <a:xfrm>
            <a:off x="228600" y="1397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endParaRPr lang="pt-BR" sz="900" b="1" dirty="0">
              <a:solidFill>
                <a:srgbClr val="0F172A"/>
              </a:solidFill>
            </a:endParaRPr>
          </a:p>
        </p:txBody>
      </p:sp>
      <p:sp>
        <p:nvSpPr>
          <p:cNvPr id="105" name="HeaderTitle"/>
          <p:cNvSpPr>
            <a:spLocks noGrp="1"/>
          </p:cNvSpPr>
          <p:nvPr/>
        </p:nvSpPr>
        <p:spPr>
          <a:xfrm>
            <a:off x="635000" y="127000"/>
            <a:ext cx="698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64748B"/>
                </a:solidFill>
              </a:rPr>
              <a:t>Protótipo  </a:t>
            </a:r>
            <a:r>
              <a:rPr lang="pt-BR" sz="1100" b="1" dirty="0">
                <a:solidFill>
                  <a:srgbClr val="F1F5F9"/>
                </a:solidFill>
              </a:rPr>
              <a:t>Tela 4: Sugestão de Redistribuição de Leitos</a:t>
            </a:r>
          </a:p>
        </p:txBody>
      </p:sp>
      <p:sp>
        <p:nvSpPr>
          <p:cNvPr id="106" name="OracleBadge"/>
          <p:cNvSpPr/>
          <p:nvPr/>
        </p:nvSpPr>
        <p:spPr>
          <a:xfrm>
            <a:off x="7569200" y="165100"/>
            <a:ext cx="1397000" cy="279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6350">
            <a:solidFill>
              <a:srgbClr val="38B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07" name="OracleTxt"/>
          <p:cNvSpPr>
            <a:spLocks noGrp="1"/>
          </p:cNvSpPr>
          <p:nvPr/>
        </p:nvSpPr>
        <p:spPr>
          <a:xfrm>
            <a:off x="7569200" y="165100"/>
            <a:ext cx="139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700" dirty="0">
                <a:solidFill>
                  <a:srgbClr val="38BDF8"/>
                </a:solidFill>
              </a:rPr>
              <a:t>☁  Oracle Cloud · OCI</a:t>
            </a:r>
          </a:p>
        </p:txBody>
      </p:sp>
      <p:sp>
        <p:nvSpPr>
          <p:cNvPr id="108" name="Tagline"/>
          <p:cNvSpPr>
            <a:spLocks noGrp="1"/>
          </p:cNvSpPr>
          <p:nvPr/>
        </p:nvSpPr>
        <p:spPr>
          <a:xfrm>
            <a:off x="457200" y="698500"/>
            <a:ext cx="82296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900" i="1" dirty="0">
                <a:solidFill>
                  <a:srgbClr val="94A3B8"/>
                </a:solidFill>
              </a:rPr>
              <a:t>Sistema sobrecarregado vs. capacidade disponível — redistribuição inteligente com 1 clique</a:t>
            </a:r>
          </a:p>
        </p:txBody>
      </p:sp>
      <p:sp>
        <p:nvSpPr>
          <p:cNvPr id="110" name="LeftCard"/>
          <p:cNvSpPr/>
          <p:nvPr/>
        </p:nvSpPr>
        <p:spPr>
          <a:xfrm>
            <a:off x="355600" y="1066800"/>
            <a:ext cx="3784600" cy="304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1" name="LeftHeader"/>
          <p:cNvSpPr/>
          <p:nvPr/>
        </p:nvSpPr>
        <p:spPr>
          <a:xfrm>
            <a:off x="355600" y="1066800"/>
            <a:ext cx="3784600" cy="355600"/>
          </a:xfrm>
          <a:prstGeom prst="roundRect">
            <a:avLst>
              <a:gd name="adj" fmla="val 6000"/>
            </a:avLst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LeftHeaderTxt"/>
          <p:cNvSpPr>
            <a:spLocks noGrp="1"/>
          </p:cNvSpPr>
          <p:nvPr/>
        </p:nvSpPr>
        <p:spPr>
          <a:xfrm>
            <a:off x="355600" y="1066800"/>
            <a:ext cx="3784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FFFFF"/>
                </a:solidFill>
              </a:rPr>
              <a:t>HOSPITAL DE ORIGEM</a:t>
            </a:r>
          </a:p>
        </p:txBody>
      </p:sp>
      <p:sp>
        <p:nvSpPr>
          <p:cNvPr id="113" name="LeftHospName"/>
          <p:cNvSpPr>
            <a:spLocks noGrp="1"/>
          </p:cNvSpPr>
          <p:nvPr/>
        </p:nvSpPr>
        <p:spPr>
          <a:xfrm>
            <a:off x="508000" y="1498600"/>
            <a:ext cx="34798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F1F5F9"/>
                </a:solidFill>
              </a:rPr>
              <a:t>Hospital São Lucas</a:t>
            </a:r>
          </a:p>
        </p:txBody>
      </p:sp>
      <p:sp>
        <p:nvSpPr>
          <p:cNvPr id="114" name="LeftDiv"/>
          <p:cNvSpPr/>
          <p:nvPr/>
        </p:nvSpPr>
        <p:spPr>
          <a:xfrm>
            <a:off x="508000" y="1803400"/>
            <a:ext cx="3479800" cy="0"/>
          </a:xfrm>
          <a:prstGeom prst="line">
            <a:avLst/>
          </a:prstGeom>
          <a:noFill/>
          <a:ln w="9525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LeftPct"/>
          <p:cNvSpPr>
            <a:spLocks noGrp="1"/>
          </p:cNvSpPr>
          <p:nvPr/>
        </p:nvSpPr>
        <p:spPr>
          <a:xfrm>
            <a:off x="508000" y="1854200"/>
            <a:ext cx="1016000" cy="736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buNone/>
            </a:pPr>
            <a:r>
              <a:rPr lang="pt-BR" sz="3200" b="1" dirty="0">
                <a:solidFill>
                  <a:srgbClr val="EF4444"/>
                </a:solidFill>
              </a:rPr>
              <a:t>91%</a:t>
            </a:r>
          </a:p>
        </p:txBody>
      </p:sp>
      <p:sp>
        <p:nvSpPr>
          <p:cNvPr id="116" name="LeftPctLabel"/>
          <p:cNvSpPr>
            <a:spLocks noGrp="1"/>
          </p:cNvSpPr>
          <p:nvPr/>
        </p:nvSpPr>
        <p:spPr>
          <a:xfrm>
            <a:off x="1574800" y="20828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buNone/>
            </a:pPr>
            <a:r>
              <a:rPr lang="pt-BR" sz="800" dirty="0">
                <a:solidFill>
                  <a:srgbClr val="94A3B8"/>
                </a:solidFill>
              </a:rPr>
              <a:t>ocupação</a:t>
            </a:r>
          </a:p>
          <a:p>
            <a:pPr algn="l">
              <a:buNone/>
            </a:pPr>
            <a:r>
              <a:rPr lang="pt-BR" sz="800" dirty="0">
                <a:solidFill>
                  <a:srgbClr val="94A3B8"/>
                </a:solidFill>
              </a:rPr>
              <a:t>atual</a:t>
            </a:r>
          </a:p>
        </p:txBody>
      </p:sp>
      <p:sp>
        <p:nvSpPr>
          <p:cNvPr id="117" name="ChipCrit"/>
          <p:cNvSpPr/>
          <p:nvPr/>
        </p:nvSpPr>
        <p:spPr>
          <a:xfrm>
            <a:off x="508000" y="26416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7F1D1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8" name="ChipCritTxt"/>
          <p:cNvSpPr>
            <a:spLocks noGrp="1"/>
          </p:cNvSpPr>
          <p:nvPr/>
        </p:nvSpPr>
        <p:spPr>
          <a:xfrm>
            <a:off x="508000" y="26416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FCA5A5"/>
                </a:solidFill>
              </a:rPr>
              <a:t>● CRÍTICO</a:t>
            </a:r>
          </a:p>
        </p:txBody>
      </p:sp>
      <p:sp>
        <p:nvSpPr>
          <p:cNvPr id="119" name="LeftMet1"/>
          <p:cNvSpPr>
            <a:spLocks noGrp="1"/>
          </p:cNvSpPr>
          <p:nvPr/>
        </p:nvSpPr>
        <p:spPr>
          <a:xfrm>
            <a:off x="508000" y="29718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Leitos disponíveis:</a:t>
            </a:r>
            <a:r>
              <a:rPr lang="pt-BR" sz="850" b="1" dirty="0">
                <a:solidFill>
                  <a:srgbClr val="FCA5A5"/>
                </a:solidFill>
              </a:rPr>
              <a:t>  4</a:t>
            </a:r>
          </a:p>
        </p:txBody>
      </p:sp>
      <p:sp>
        <p:nvSpPr>
          <p:cNvPr id="120" name="LeftMet2"/>
          <p:cNvSpPr>
            <a:spLocks noGrp="1"/>
          </p:cNvSpPr>
          <p:nvPr/>
        </p:nvSpPr>
        <p:spPr>
          <a:xfrm>
            <a:off x="508000" y="3251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UTI disponível:</a:t>
            </a:r>
            <a:r>
              <a:rPr lang="pt-BR" sz="850" b="1" dirty="0">
                <a:solidFill>
                  <a:srgbClr val="FCA5A5"/>
                </a:solidFill>
              </a:rPr>
              <a:t>  1</a:t>
            </a:r>
          </a:p>
        </p:txBody>
      </p:sp>
      <p:sp>
        <p:nvSpPr>
          <p:cNvPr id="121" name="LeftMet3"/>
          <p:cNvSpPr>
            <a:spLocks noGrp="1"/>
          </p:cNvSpPr>
          <p:nvPr/>
        </p:nvSpPr>
        <p:spPr>
          <a:xfrm>
            <a:off x="508000" y="3530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Fila de espera:</a:t>
            </a:r>
            <a:r>
              <a:rPr lang="pt-BR" sz="850" b="1" dirty="0">
                <a:solidFill>
                  <a:srgbClr val="F1F5F9"/>
                </a:solidFill>
              </a:rPr>
              <a:t>  23 pac.</a:t>
            </a:r>
          </a:p>
        </p:txBody>
      </p:sp>
      <p:sp>
        <p:nvSpPr>
          <p:cNvPr id="122" name="LeftMet4"/>
          <p:cNvSpPr>
            <a:spLocks noGrp="1"/>
          </p:cNvSpPr>
          <p:nvPr/>
        </p:nvSpPr>
        <p:spPr>
          <a:xfrm>
            <a:off x="508000" y="3784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Especialidade:</a:t>
            </a:r>
            <a:r>
              <a:rPr lang="pt-BR" sz="850" b="1" dirty="0">
                <a:solidFill>
                  <a:srgbClr val="F1F5F9"/>
                </a:solidFill>
              </a:rPr>
              <a:t>  Clínica Geral</a:t>
            </a:r>
          </a:p>
        </p:txBody>
      </p:sp>
      <p:sp>
        <p:nvSpPr>
          <p:cNvPr id="132" name="TransferBadge"/>
          <p:cNvSpPr/>
          <p:nvPr/>
        </p:nvSpPr>
        <p:spPr>
          <a:xfrm>
            <a:off x="4140200" y="2057400"/>
            <a:ext cx="863600" cy="279400"/>
          </a:xfrm>
          <a:prstGeom prst="roundRect">
            <a:avLst>
              <a:gd name="adj" fmla="val 20000"/>
            </a:avLst>
          </a:prstGeom>
          <a:solidFill>
            <a:srgbClr val="0E3A52"/>
          </a:solidFill>
          <a:ln w="6350">
            <a:solidFill>
              <a:srgbClr val="38B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33" name="TransferTxt"/>
          <p:cNvSpPr>
            <a:spLocks noGrp="1"/>
          </p:cNvSpPr>
          <p:nvPr/>
        </p:nvSpPr>
        <p:spPr>
          <a:xfrm>
            <a:off x="4140201" y="2071687"/>
            <a:ext cx="863600" cy="2555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750" b="1" dirty="0">
                <a:solidFill>
                  <a:srgbClr val="38BDF8"/>
                </a:solidFill>
              </a:rPr>
              <a:t>10 pacientes</a:t>
            </a:r>
          </a:p>
        </p:txBody>
      </p:sp>
      <p:sp>
        <p:nvSpPr>
          <p:cNvPr id="134" name="TransferSub"/>
          <p:cNvSpPr>
            <a:spLocks noGrp="1"/>
          </p:cNvSpPr>
          <p:nvPr/>
        </p:nvSpPr>
        <p:spPr>
          <a:xfrm>
            <a:off x="4216400" y="2714625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700" dirty="0">
                <a:solidFill>
                  <a:srgbClr val="64748B"/>
                </a:solidFill>
              </a:rPr>
              <a:t>transferência</a:t>
            </a:r>
          </a:p>
        </p:txBody>
      </p:sp>
      <p:sp>
        <p:nvSpPr>
          <p:cNvPr id="140" name="RightCard"/>
          <p:cNvSpPr/>
          <p:nvPr/>
        </p:nvSpPr>
        <p:spPr>
          <a:xfrm>
            <a:off x="5003800" y="1066800"/>
            <a:ext cx="3784600" cy="3048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1" name="RightHeader"/>
          <p:cNvSpPr/>
          <p:nvPr/>
        </p:nvSpPr>
        <p:spPr>
          <a:xfrm>
            <a:off x="5003800" y="1066800"/>
            <a:ext cx="3784600" cy="35560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2" name="RightHeaderTxt"/>
          <p:cNvSpPr>
            <a:spLocks noGrp="1"/>
          </p:cNvSpPr>
          <p:nvPr/>
        </p:nvSpPr>
        <p:spPr>
          <a:xfrm>
            <a:off x="5008563" y="1066800"/>
            <a:ext cx="37846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800" b="1" dirty="0">
                <a:solidFill>
                  <a:srgbClr val="FFFFFF"/>
                </a:solidFill>
              </a:rPr>
              <a:t>HOSPITAL DE DESTINO</a:t>
            </a:r>
          </a:p>
        </p:txBody>
      </p:sp>
      <p:sp>
        <p:nvSpPr>
          <p:cNvPr id="143" name="RightHospName"/>
          <p:cNvSpPr>
            <a:spLocks noGrp="1"/>
          </p:cNvSpPr>
          <p:nvPr/>
        </p:nvSpPr>
        <p:spPr>
          <a:xfrm>
            <a:off x="5156200" y="1498600"/>
            <a:ext cx="34798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F1F5F9"/>
                </a:solidFill>
              </a:rPr>
              <a:t>Hospital Campo Limpo</a:t>
            </a:r>
          </a:p>
        </p:txBody>
      </p:sp>
      <p:sp>
        <p:nvSpPr>
          <p:cNvPr id="144" name="RightDiv"/>
          <p:cNvSpPr/>
          <p:nvPr/>
        </p:nvSpPr>
        <p:spPr>
          <a:xfrm>
            <a:off x="5156200" y="1803400"/>
            <a:ext cx="3479800" cy="0"/>
          </a:xfrm>
          <a:prstGeom prst="line">
            <a:avLst/>
          </a:prstGeom>
          <a:noFill/>
          <a:ln w="9525">
            <a:solidFill>
              <a:srgbClr val="33415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5" name="RightPct"/>
          <p:cNvSpPr>
            <a:spLocks noGrp="1"/>
          </p:cNvSpPr>
          <p:nvPr/>
        </p:nvSpPr>
        <p:spPr>
          <a:xfrm>
            <a:off x="5156200" y="1854200"/>
            <a:ext cx="1016000" cy="736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buNone/>
            </a:pPr>
            <a:r>
              <a:rPr lang="pt-BR" sz="3200" b="1" dirty="0">
                <a:solidFill>
                  <a:srgbClr val="22C55E"/>
                </a:solidFill>
              </a:rPr>
              <a:t>62%</a:t>
            </a:r>
          </a:p>
        </p:txBody>
      </p:sp>
      <p:sp>
        <p:nvSpPr>
          <p:cNvPr id="146" name="RightPctLabel"/>
          <p:cNvSpPr>
            <a:spLocks noGrp="1"/>
          </p:cNvSpPr>
          <p:nvPr/>
        </p:nvSpPr>
        <p:spPr>
          <a:xfrm>
            <a:off x="6223000" y="2082800"/>
            <a:ext cx="101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l">
              <a:buNone/>
            </a:pPr>
            <a:r>
              <a:rPr lang="pt-BR" sz="800" dirty="0">
                <a:solidFill>
                  <a:srgbClr val="94A3B8"/>
                </a:solidFill>
              </a:rPr>
              <a:t>ocupação</a:t>
            </a:r>
          </a:p>
          <a:p>
            <a:pPr algn="l">
              <a:buNone/>
            </a:pPr>
            <a:r>
              <a:rPr lang="pt-BR" sz="800" dirty="0">
                <a:solidFill>
                  <a:srgbClr val="94A3B8"/>
                </a:solidFill>
              </a:rPr>
              <a:t>atual</a:t>
            </a:r>
          </a:p>
        </p:txBody>
      </p:sp>
      <p:sp>
        <p:nvSpPr>
          <p:cNvPr id="147" name="ChipOK"/>
          <p:cNvSpPr/>
          <p:nvPr/>
        </p:nvSpPr>
        <p:spPr>
          <a:xfrm>
            <a:off x="5156200" y="2641600"/>
            <a:ext cx="1143000" cy="228600"/>
          </a:xfrm>
          <a:prstGeom prst="roundRect">
            <a:avLst>
              <a:gd name="adj" fmla="val 20000"/>
            </a:avLst>
          </a:prstGeom>
          <a:solidFill>
            <a:srgbClr val="14532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8" name="ChipOKTxt"/>
          <p:cNvSpPr>
            <a:spLocks noGrp="1"/>
          </p:cNvSpPr>
          <p:nvPr/>
        </p:nvSpPr>
        <p:spPr>
          <a:xfrm>
            <a:off x="5156200" y="26416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700" b="1" dirty="0">
                <a:solidFill>
                  <a:srgbClr val="86EFAC"/>
                </a:solidFill>
              </a:rPr>
              <a:t>● DISPONÍVEL</a:t>
            </a:r>
          </a:p>
        </p:txBody>
      </p:sp>
      <p:sp>
        <p:nvSpPr>
          <p:cNvPr id="149" name="RightMet1"/>
          <p:cNvSpPr>
            <a:spLocks noGrp="1"/>
          </p:cNvSpPr>
          <p:nvPr/>
        </p:nvSpPr>
        <p:spPr>
          <a:xfrm>
            <a:off x="5156200" y="29718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Leitos disponíveis:</a:t>
            </a:r>
            <a:r>
              <a:rPr lang="pt-BR" sz="850" b="1" dirty="0">
                <a:solidFill>
                  <a:srgbClr val="86EFAC"/>
                </a:solidFill>
              </a:rPr>
              <a:t>  28</a:t>
            </a:r>
          </a:p>
        </p:txBody>
      </p:sp>
      <p:sp>
        <p:nvSpPr>
          <p:cNvPr id="150" name="RightMet2"/>
          <p:cNvSpPr>
            <a:spLocks noGrp="1"/>
          </p:cNvSpPr>
          <p:nvPr/>
        </p:nvSpPr>
        <p:spPr>
          <a:xfrm>
            <a:off x="5156200" y="32512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UTI disponível:</a:t>
            </a:r>
            <a:r>
              <a:rPr lang="pt-BR" sz="850" b="1" dirty="0">
                <a:solidFill>
                  <a:srgbClr val="86EFAC"/>
                </a:solidFill>
              </a:rPr>
              <a:t>  12</a:t>
            </a:r>
          </a:p>
        </p:txBody>
      </p:sp>
      <p:sp>
        <p:nvSpPr>
          <p:cNvPr id="151" name="RightMet3"/>
          <p:cNvSpPr>
            <a:spLocks noGrp="1"/>
          </p:cNvSpPr>
          <p:nvPr/>
        </p:nvSpPr>
        <p:spPr>
          <a:xfrm>
            <a:off x="5156200" y="3530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Distância:</a:t>
            </a:r>
            <a:r>
              <a:rPr lang="pt-BR" sz="850" b="1" dirty="0">
                <a:solidFill>
                  <a:srgbClr val="F1F5F9"/>
                </a:solidFill>
              </a:rPr>
              <a:t>  8.4 km</a:t>
            </a:r>
          </a:p>
        </p:txBody>
      </p:sp>
      <p:sp>
        <p:nvSpPr>
          <p:cNvPr id="152" name="RightMet4"/>
          <p:cNvSpPr>
            <a:spLocks noGrp="1"/>
          </p:cNvSpPr>
          <p:nvPr/>
        </p:nvSpPr>
        <p:spPr>
          <a:xfrm>
            <a:off x="5156200" y="37846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64748B"/>
                </a:solidFill>
              </a:rPr>
              <a:t>Especialidade:</a:t>
            </a:r>
            <a:r>
              <a:rPr lang="pt-BR" sz="850" b="1" dirty="0">
                <a:solidFill>
                  <a:srgbClr val="86EFAC"/>
                </a:solidFill>
              </a:rPr>
              <a:t>  ✔ Compatível</a:t>
            </a:r>
          </a:p>
        </p:txBody>
      </p:sp>
      <p:sp>
        <p:nvSpPr>
          <p:cNvPr id="160" name="BtnConfirm"/>
          <p:cNvSpPr/>
          <p:nvPr/>
        </p:nvSpPr>
        <p:spPr>
          <a:xfrm>
            <a:off x="355600" y="4318000"/>
            <a:ext cx="4064000" cy="5842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1" name="BtnConfirmTxt"/>
          <p:cNvSpPr>
            <a:spLocks noGrp="1"/>
          </p:cNvSpPr>
          <p:nvPr/>
        </p:nvSpPr>
        <p:spPr>
          <a:xfrm>
            <a:off x="355600" y="4318000"/>
            <a:ext cx="4064000" cy="584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FFFFFF"/>
                </a:solidFill>
              </a:rPr>
              <a:t>✔  CONFIRMAR REDISTRIBUIÇÃO</a:t>
            </a:r>
          </a:p>
        </p:txBody>
      </p:sp>
      <p:sp>
        <p:nvSpPr>
          <p:cNvPr id="162" name="BtnReview"/>
          <p:cNvSpPr/>
          <p:nvPr/>
        </p:nvSpPr>
        <p:spPr>
          <a:xfrm>
            <a:off x="4724400" y="4318000"/>
            <a:ext cx="4064000" cy="584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63" name="BtnReviewTxt"/>
          <p:cNvSpPr>
            <a:spLocks noGrp="1"/>
          </p:cNvSpPr>
          <p:nvPr/>
        </p:nvSpPr>
        <p:spPr>
          <a:xfrm>
            <a:off x="4724400" y="4318000"/>
            <a:ext cx="4064000" cy="584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94A3B8"/>
                </a:solidFill>
              </a:rPr>
              <a:t>↺  SOLICITAR REVISÃO</a:t>
            </a:r>
          </a:p>
        </p:txBody>
      </p:sp>
      <p:sp>
        <p:nvSpPr>
          <p:cNvPr id="170" name="FooterBG"/>
          <p:cNvSpPr/>
          <p:nvPr/>
        </p:nvSpPr>
        <p:spPr>
          <a:xfrm>
            <a:off x="0" y="4978400"/>
            <a:ext cx="9144000" cy="165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1" name="FooterTxt"/>
          <p:cNvSpPr>
            <a:spLocks noGrp="1"/>
          </p:cNvSpPr>
          <p:nvPr/>
        </p:nvSpPr>
        <p:spPr>
          <a:xfrm>
            <a:off x="0" y="4978400"/>
            <a:ext cx="9144000" cy="1651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pt-BR" sz="600" dirty="0">
                <a:solidFill>
                  <a:srgbClr val="334155"/>
                </a:solidFill>
              </a:rPr>
              <a:t>Powered by Oracle Autonomous DB  ·  Select AI  ·  OCI Monitoring</a:t>
            </a:r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5860B703-ADFA-16B5-A905-BE3CEAB15067}"/>
              </a:ext>
            </a:extLst>
          </p:cNvPr>
          <p:cNvSpPr/>
          <p:nvPr/>
        </p:nvSpPr>
        <p:spPr>
          <a:xfrm>
            <a:off x="4215275" y="2470726"/>
            <a:ext cx="714248" cy="243351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211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</a:rPr>
              <a:t>04  |  Planejamento e Gestão de Projetos — Kanban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1031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✅ CONCLUÍDO</a:t>
            </a:r>
            <a:endParaRPr lang="en-US" sz="80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457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Contextualização do problema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182880" y="1984248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82880" y="1984248"/>
            <a:ext cx="457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74320" y="1984248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Proposta de solução com IA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182880" y="2734056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82880" y="2734056"/>
            <a:ext cx="457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74320" y="2734056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Análise financeira e benchmarks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182880" y="3483864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82880" y="3483864"/>
            <a:ext cx="4572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74320" y="3483864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Plano de implementação 3 fases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2377440" y="777240"/>
            <a:ext cx="21031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377440" y="77724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🔄 EM ANDAMENTO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2377440" y="1234440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377440" y="1234440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246888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Pipeline ETL em Python (40%)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2377440" y="1984248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2377440" y="1984248"/>
            <a:ext cx="457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468880" y="1984248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Pesquisa de benchmarks IA no SUS (60%)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572000" y="777240"/>
            <a:ext cx="21031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0" y="77724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</a:rPr>
              <a:t>📋 Em AANDAMENTO — Sprint 2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4572000" y="1234440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572000" y="1234440"/>
            <a:ext cx="457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66344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Documentar arquitetura final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4572000" y="1984248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572000" y="1984248"/>
            <a:ext cx="457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663440" y="1984248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Protótipos no Figma/Canva (4 telas)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572000" y="2734056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572000" y="2734056"/>
            <a:ext cx="457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663440" y="2734056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Testar APIs OpenDataSUS + CETESB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572000" y="3483864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4572000" y="3483864"/>
            <a:ext cx="457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663440" y="3483864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Montar Kanban no Trello/Jira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572000" y="4233672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572000" y="4233672"/>
            <a:ext cx="4572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663440" y="4233672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Montar apresentação PowerPoint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766560" y="777240"/>
            <a:ext cx="210312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766560" y="777240"/>
            <a:ext cx="21031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📌 BACKLOG — Sprint 3+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6766560" y="1234440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6766560" y="1234440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85800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Treinar Prophet com SIVEP-Gripe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6766560" y="1984248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6766560" y="1984248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6858000" y="1984248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Dashboard no Metabase/Power BI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6766560" y="2734056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6766560" y="2734056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6858000" y="2734056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Backtesting 2022–2024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766560" y="3483864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766560" y="3483864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858000" y="3483864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Alertas automáticos por e-mail</a:t>
            </a:r>
            <a:endParaRPr lang="en-US" sz="900"/>
          </a:p>
        </p:txBody>
      </p:sp>
      <p:sp>
        <p:nvSpPr>
          <p:cNvPr id="57" name="Shape 55"/>
          <p:cNvSpPr/>
          <p:nvPr/>
        </p:nvSpPr>
        <p:spPr>
          <a:xfrm>
            <a:off x="6766560" y="4233672"/>
            <a:ext cx="2103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6766560" y="4233672"/>
            <a:ext cx="457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6858000" y="4233672"/>
            <a:ext cx="19659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A2540"/>
                </a:solidFill>
              </a:rPr>
              <a:t>Piloto com 5 hospitais simulados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</a:rPr>
              <a:t>04  |  Roadmap das Próximas Sprints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051560" y="2487168"/>
            <a:ext cx="512064" cy="51206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51560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965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9659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1965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</a:rPr>
              <a:t>Atual — Arquitetura e Protótipos</a:t>
            </a:r>
            <a:endParaRPr lang="en-US" sz="750"/>
          </a:p>
        </p:txBody>
      </p:sp>
      <p:sp>
        <p:nvSpPr>
          <p:cNvPr id="10" name="Text 8"/>
          <p:cNvSpPr/>
          <p:nvPr/>
        </p:nvSpPr>
        <p:spPr>
          <a:xfrm>
            <a:off x="530352" y="12344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891B2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Diagrama técnico do MVP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530352" y="1581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891B2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4 telas de protótipo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530352" y="1929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891B2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Kanban atualizado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196596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ATUAL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3218688" y="2487168"/>
            <a:ext cx="512064" cy="51206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1868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S3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2624328" y="868680"/>
            <a:ext cx="1965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624328" y="868680"/>
            <a:ext cx="196596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624328" y="868680"/>
            <a:ext cx="1965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</a:rPr>
              <a:t>Próxima — Modelagem e Dashboard</a:t>
            </a:r>
            <a:endParaRPr lang="en-US" sz="750"/>
          </a:p>
        </p:txBody>
      </p:sp>
      <p:sp>
        <p:nvSpPr>
          <p:cNvPr id="20" name="Text 18"/>
          <p:cNvSpPr/>
          <p:nvPr/>
        </p:nvSpPr>
        <p:spPr>
          <a:xfrm>
            <a:off x="2697480" y="12344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369A1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Prophet treinado com dados reais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2697480" y="1581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369A1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Dashboard básico funcional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2697480" y="1929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369A1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Backtesting 2022–2024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2624328" y="3127248"/>
            <a:ext cx="196596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2624328" y="31272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PRÓXIMA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5385816" y="2487168"/>
            <a:ext cx="512064" cy="512064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385816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S4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791456" y="868680"/>
            <a:ext cx="1965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791456" y="868680"/>
            <a:ext cx="1965960" cy="3200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791456" y="868680"/>
            <a:ext cx="1965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</a:rPr>
              <a:t>Futura — Validação e Piloto</a:t>
            </a:r>
            <a:endParaRPr lang="en-US" sz="750"/>
          </a:p>
        </p:txBody>
      </p:sp>
      <p:sp>
        <p:nvSpPr>
          <p:cNvPr id="30" name="Text 28"/>
          <p:cNvSpPr/>
          <p:nvPr/>
        </p:nvSpPr>
        <p:spPr>
          <a:xfrm>
            <a:off x="4864608" y="12344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A2540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Piloto com 5 hospitais simulados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4864608" y="1581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A2540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Alertas automáticos por e-mail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864608" y="1929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A2540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Validação das hipóteses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4791456" y="3127248"/>
            <a:ext cx="19659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791456" y="31272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FUTURA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7552944" y="2487168"/>
            <a:ext cx="512064" cy="51206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552944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S5+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6958584" y="868680"/>
            <a:ext cx="1965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958584" y="868680"/>
            <a:ext cx="196596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958584" y="868680"/>
            <a:ext cx="19659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</a:rPr>
              <a:t>Expansão — Módulos Avançados</a:t>
            </a:r>
            <a:endParaRPr lang="en-US" sz="750"/>
          </a:p>
        </p:txBody>
      </p:sp>
      <p:sp>
        <p:nvSpPr>
          <p:cNvPr id="40" name="Text 38"/>
          <p:cNvSpPr/>
          <p:nvPr/>
        </p:nvSpPr>
        <p:spPr>
          <a:xfrm>
            <a:off x="7031736" y="123444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NLP em prontuários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7031736" y="1581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Redistribuição automática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7031736" y="192938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64748B"/>
                </a:solidFill>
              </a:rPr>
              <a:t>• </a:t>
            </a:r>
            <a:r>
              <a:rPr lang="en-US" sz="850">
                <a:solidFill>
                  <a:srgbClr val="0A2540"/>
                </a:solidFill>
              </a:rPr>
              <a:t>Integração hospitais reais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958584" y="3127248"/>
            <a:ext cx="196596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958584" y="31272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EXPANSÃO</a:t>
            </a:r>
            <a:endParaRPr lang="en-US" sz="1100"/>
          </a:p>
        </p:txBody>
      </p:sp>
      <p:sp>
        <p:nvSpPr>
          <p:cNvPr id="45" name="Text 4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4748B"/>
                </a:solidFill>
              </a:rPr>
              <a:t>O escopo prioriza o MVP antes de adicionar complexidade — conforme feedback dos professores.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502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D3EE"/>
                </a:solidFill>
              </a:rPr>
              <a:t>05  |  Conclusão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construímos na Sprint 2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FFFFFF"/>
                </a:solidFill>
              </a:rPr>
              <a:t>Na Sprint 2, o VigiAr avançou de uma proposta conceitual para uma solução com arquitetura definida, tecnologias justificadas e interfaces pensadas para quem realmente vai usar o sistema: o gestor de saúde pública. Incorporamos os feedbacks dos professores priorizando o MVP — o caminho mais direto entre os dados e a decisão — e deixando as funcionalidades avançadas para fases com validação real. Cada tela projetada responde a uma pergunta simples: o que o gestor precisa saber agora para tomar a decisão certa?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2D3EE"/>
                </a:solidFill>
              </a:rPr>
              <a:t>📌  Próximo passo — Sprint 3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</a:rPr>
              <a:t>Sairemos do papel para o código: modelo preditivo em execução, dados reais do OpenDataSUS carregados e o primeiro dashboard funcional rodando.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</a:rPr>
              <a:t>Agradecemos à FIAP, aos professores pelo feedback criterioso e a cada integrante do Data Squad pelo comprometimento.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VigiAr — Data Squad  ·  FIAP 2026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AA8A35-A104-4D2F-96B6-FD467389D6B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176b69d-8073-433d-9b08-67f7562004c0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d17f29-c61c-4cc2-bdbb-74f204b75e1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83A6E24C555944F9E8E6E4B87F3DAE2" ma:contentTypeVersion="9" ma:contentTypeDescription="Crie um novo documento." ma:contentTypeScope="" ma:versionID="200d226de0bf3209b0bbadcd80bdf42a">
  <xsd:schema xmlns:xsd="http://www.w3.org/2001/XMLSchema" xmlns:xs="http://www.w3.org/2001/XMLSchema" xmlns:p="http://schemas.microsoft.com/office/2006/metadata/properties" xmlns:ns2="a6d17f29-c61c-4cc2-bdbb-74f204b75e17" targetNamespace="http://schemas.microsoft.com/office/2006/metadata/properties" ma:root="true" ma:fieldsID="ccff732345cc44c6fc1fbaaa145613bb" ns2:_="">
    <xsd:import namespace="a6d17f29-c61c-4cc2-bdbb-74f204b75e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17f29-c61c-4cc2-bdbb-74f204b75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A43223-71E7-4715-8C15-F03D34530A13}">
  <ds:schemaRefs>
    <ds:schemaRef ds:uri="a6d17f29-c61c-4cc2-bdbb-74f204b75e1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43E91B8-2148-4EBB-859C-1079DF077A46}">
  <ds:schemaRefs>
    <ds:schemaRef ds:uri="a6d17f29-c61c-4cc2-bdbb-74f204b75e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E5385A9-FA49-4313-BF45-63A4CBBA1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1932</Words>
  <Application>Microsoft Office PowerPoint</Application>
  <PresentationFormat>Apresentação na tela (16:9)</PresentationFormat>
  <Paragraphs>296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VigiAr — Sprint 2</dc:title>
  <dc:subject>PptxGenJS Presentation</dc:subject>
  <dc:creator>Data Squad | FIAP 2026</dc:creator>
  <cp:lastModifiedBy>João Marcos Borba Rodrigues Gonçalves</cp:lastModifiedBy>
  <cp:revision>234</cp:revision>
  <dcterms:created xsi:type="dcterms:W3CDTF">2026-05-12T01:43:20Z</dcterms:created>
  <dcterms:modified xsi:type="dcterms:W3CDTF">2026-05-18T18:24:46Z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0x010100383A6E24C555944F9E8E6E4B87F3DAE2</vt:lpwstr>
  </property>
  <property fmtid="{D5CDD505-2E9C-101B-9397-08002B2CF9AE}" pid="3" name="MediaServiceImageTags">
    <vt:lpwstr/>
  </property>
</Properties>
</file>